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84a51193b54bde" /><Relationship Type="http://schemas.openxmlformats.org/officeDocument/2006/relationships/extended-properties" Target="/docProps/app.xml" Id="R9c5f0519547440aa" /><Relationship Type="http://schemas.openxmlformats.org/officeDocument/2006/relationships/officeDocument" Target="/ppt/presentation.xml" Id="R84b508c575fe4d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2fda623b87c4c9f"/>
  </p:sldMasterIdLst>
  <p:notesMasterIdLst>
    <p:notesMasterId xmlns:r="http://schemas.openxmlformats.org/officeDocument/2006/relationships" r:id="Rdc69e7e117654962"/>
  </p:notesMasterIdLst>
  <p:sldIdLst>
    <p:sldId xmlns:r="http://schemas.openxmlformats.org/officeDocument/2006/relationships" id="256" r:id="R3a97ff0e99f249ca"/>
    <p:sldId xmlns:r="http://schemas.openxmlformats.org/officeDocument/2006/relationships" id="257" r:id="Re2163cc0fb6c49e4"/>
    <p:sldId xmlns:r="http://schemas.openxmlformats.org/officeDocument/2006/relationships" id="258" r:id="R3aa26fc3c62543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46a02c28574915" /><Relationship Type="http://schemas.openxmlformats.org/officeDocument/2006/relationships/slideMaster" Target="/ppt/slideMasters/slideMaster1.xml" Id="Ra2fda623b87c4c9f" /><Relationship Type="http://schemas.openxmlformats.org/officeDocument/2006/relationships/notesMaster" Target="/ppt/notesMasters/notesMaster1.xml" Id="Rdc69e7e117654962" /><Relationship Type="http://schemas.openxmlformats.org/officeDocument/2006/relationships/presProps" Target="/ppt/presProps.xml" Id="Rf1b92420b0344a84" /><Relationship Type="http://schemas.openxmlformats.org/officeDocument/2006/relationships/tableStyles" Target="/ppt/tableStyles.xml" Id="Rfe5d39120fe34f5e" /><Relationship Type="http://schemas.openxmlformats.org/officeDocument/2006/relationships/slide" Target="/ppt/slides/slide1.xml" Id="R3a97ff0e99f249ca" /><Relationship Type="http://schemas.openxmlformats.org/officeDocument/2006/relationships/slide" Target="/ppt/slides/slide2.xml" Id="Re2163cc0fb6c49e4" /><Relationship Type="http://schemas.openxmlformats.org/officeDocument/2006/relationships/slide" Target="/ppt/slides/slide3.xml" Id="R3aa26fc3c62543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7eb7c7207b4a9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libaba PuHuiTi"/>
        <a:ea typeface="Alibaba PuHuiTi"/>
        <a:cs typeface="Alibaba PuHuiTi"/>
      </a:majorFont>
      <a:minorFont>
        <a:latin typeface="Alibaba PuHuiTi"/>
        <a:ea typeface="Alibaba PuHuiTi"/>
        <a:cs typeface="Alibaba PuHuiT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1ad0e4dd42345a7" /><Relationship Type="http://schemas.openxmlformats.org/officeDocument/2006/relationships/notesMaster" Target="/ppt/notesMasters/notesMaster1.xml" Id="R81dcdebc85eb4f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2e013a9c35450a" /><Relationship Type="http://schemas.openxmlformats.org/officeDocument/2006/relationships/notesMaster" Target="/ppt/notesMasters/notesMaster1.xml" Id="Rcfdd8e6d3d2d48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3eaec0bfc304081" /><Relationship Type="http://schemas.openxmlformats.org/officeDocument/2006/relationships/notesMaster" Target="/ppt/notesMasters/notesMaster1.xml" Id="R8b45b4684efd43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这一页先看结构，不逐个念项目。</a:t>
            </a:r>
          </a:p>
          <a:p xmlns:a="http://schemas.openxmlformats.org/drawingml/2006/main">
            <a:r>
              <a:t>经典 awesome 主要帮人发现信息。后面的项目开始交付可复制文件、安装命令和工作方法。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analysis: outputs/awesome-agentic-landscape-260729/data/editorial_shortlist.csv</a:t>
            </a:r>
          </a:p>
          <a:p xmlns:a="http://schemas.openxmlformats.org/drawingml/2006/main">
            <a:r>
              <a:t>- https://github.com/sindresorhus/awesome</a:t>
            </a:r>
          </a:p>
          <a:p xmlns:a="http://schemas.openxmlformats.org/drawingml/2006/main">
            <a:r>
              <a:t>- https://github.com/punkpeye/awesome-mcp-servers</a:t>
            </a:r>
          </a:p>
          <a:p xmlns:a="http://schemas.openxmlformats.org/drawingml/2006/main">
            <a:r>
              <a:t>- https://github.com/VoltAgent/awesome-design-md</a:t>
            </a:r>
          </a:p>
          <a:p xmlns:a="http://schemas.openxmlformats.org/drawingml/2006/main">
            <a:r>
              <a:t>- https://github.com/freestylefly/awesome-gpt-image-2</a:t>
            </a:r>
          </a:p>
          <a:p xmlns:a="http://schemas.openxmlformats.org/drawingml/2006/main">
            <a:r>
              <a:t>- https://github.com/vercel-labs/skills</a:t>
            </a:r>
          </a:p>
          <a:p xmlns:a="http://schemas.openxmlformats.org/drawingml/2006/main">
            <a:r>
              <a:t>- https://github.com/anthropics/skills</a:t>
            </a:r>
          </a:p>
          <a:p xmlns:a="http://schemas.openxmlformats.org/drawingml/2006/main">
            <a:r>
              <a:t>- https://github.com/obra/superpowers</a:t>
            </a:r>
          </a:p>
          <a:p xmlns:a="http://schemas.openxmlformats.org/drawingml/2006/main">
            <a:r>
              <a:t>- https://github.com/github/spec-kit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这里的关键区别是交付物。</a:t>
            </a:r>
          </a:p>
          <a:p xmlns:a="http://schemas.openxmlformats.org/drawingml/2006/main">
            <a:r>
              <a:t>前两个项目仍然以浏览和发现为主。DESIGN.md 和生图 skill 已经可以直接放进 agent 的工作上下文。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analysis: outputs/awesome-agentic-landscape-260729/data/editorial_shortlist.csv</a:t>
            </a:r>
          </a:p>
          <a:p xmlns:a="http://schemas.openxmlformats.org/drawingml/2006/main">
            <a:r>
              <a:t>- https://github.com/sindresorhus/awesome</a:t>
            </a:r>
          </a:p>
          <a:p xmlns:a="http://schemas.openxmlformats.org/drawingml/2006/main">
            <a:r>
              <a:t>- https://github.com/punkpeye/awesome-mcp-servers</a:t>
            </a:r>
          </a:p>
          <a:p xmlns:a="http://schemas.openxmlformats.org/drawingml/2006/main">
            <a:r>
              <a:t>- https://github.com/VoltAgent/awesome-design-md</a:t>
            </a:r>
          </a:p>
          <a:p xmlns:a="http://schemas.openxmlformats.org/drawingml/2006/main">
            <a:r>
              <a:t>- https://github.com/freestylefly/awesome-gpt-image-2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这四个项目更接近 agent-native 的形态。</a:t>
            </a:r>
          </a:p>
          <a:p xmlns:a="http://schemas.openxmlformats.org/drawingml/2006/main">
            <a:r>
              <a:t>skills 和 anthropics/skills 把能力做成可安装的目录结构。superpowers 和 spec-kit 进一步保存工程方法和判断标准。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Local analysis: outputs/awesome-agentic-landscape-260729/data/editorial_shortlist.csv</a:t>
            </a:r>
          </a:p>
          <a:p xmlns:a="http://schemas.openxmlformats.org/drawingml/2006/main">
            <a:r>
              <a:t>- https://github.com/vercel-labs/skills</a:t>
            </a:r>
          </a:p>
          <a:p xmlns:a="http://schemas.openxmlformats.org/drawingml/2006/main">
            <a:r>
              <a:t>- https://github.com/anthropics/skills</a:t>
            </a:r>
          </a:p>
          <a:p xmlns:a="http://schemas.openxmlformats.org/drawingml/2006/main">
            <a:r>
              <a:t>- https://github.com/obra/superpowers</a:t>
            </a:r>
          </a:p>
          <a:p xmlns:a="http://schemas.openxmlformats.org/drawingml/2006/main">
            <a:r>
              <a:t>- https://github.com/github/spec-kit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e7b3a608da46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39778127f849ce" /><Relationship Type="http://schemas.openxmlformats.org/officeDocument/2006/relationships/slideLayout" Target="/ppt/slideLayouts/slideLayout1.xml" Id="R9ba27209af674b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a27209af674b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Alibaba PuHuiTi"/>
          <a:ea typeface="Alibaba PuHuiTi"/>
          <a:cs typeface="Alibaba PuHuiTi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Alibaba PuHuiTi"/>
          <a:ea typeface="Alibaba PuHuiTi"/>
          <a:cs typeface="Alibaba PuHuiTi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Alibaba PuHuiTi"/>
          <a:ea typeface="Alibaba PuHuiTi"/>
          <a:cs typeface="Alibaba PuHuiTi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Alibaba PuHuiTi"/>
          <a:ea typeface="Alibaba PuHuiTi"/>
          <a:cs typeface="Alibaba PuHuiTi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Alibaba PuHuiTi"/>
          <a:ea typeface="Alibaba PuHuiTi"/>
          <a:cs typeface="Alibaba PuHuiTi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libaba PuHuiTi"/>
        <a:ea typeface="Alibaba PuHuiTi"/>
        <a:cs typeface="Alibaba PuHuiTi"/>
      </a:majorFont>
      <a:minorFont>
        <a:latin typeface="Alibaba PuHuiTi"/>
        <a:ea typeface="Alibaba PuHuiTi"/>
        <a:cs typeface="Alibaba PuHuiT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1cdca9e7ea43db" /><Relationship Type="http://schemas.openxmlformats.org/officeDocument/2006/relationships/notesSlide" Target="/ppt/notesSlides/notesSlide1.xml" Id="Rc0e4867ba3974b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a6e9dc68454eb0" /><Relationship Type="http://schemas.openxmlformats.org/officeDocument/2006/relationships/notesSlide" Target="/ppt/notesSlides/notesSlide2.xml" Id="R0e000b9e5ea841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f2761a9ebf47c8" /><Relationship Type="http://schemas.openxmlformats.org/officeDocument/2006/relationships/notesSlide" Target="/ppt/notesSlides/notesSlide3.xml" Id="R7ad83da9b1a947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deck-title">
            <a:extLst xmlns:a="http://schemas.openxmlformats.org/drawingml/2006/main">
              <a:ext uri="{FF2B5EF4-FFF2-40B4-BE49-F238E27FC236}">
                <a16:creationId xmlns:a16="http://schemas.microsoft.com/office/drawing/2014/main" id="{C0D880BF-BE8B-48E5-8F66-B0C391AEC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1950"/>
            <a:ext cx="1076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750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3750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rPr>
              <a:t>同样叫 awesome，用法已经分成四种</a:t>
            </a:r>
          </a:p>
        </p:txBody>
      </p:sp>
      <p:sp>
        <p:nvSpPr>
          <p:cNvPr id="2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35ADFB72-AEAB-4CB0-AE6E-A4453C39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066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59616C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725" b="0">
                <a:solidFill>
                  <a:srgbClr val="59616C"/>
                </a:solidFill>
                <a:latin typeface="Alibaba PuHuiTi"/>
                <a:ea typeface="Alibaba PuHuiTi"/>
                <a:cs typeface="Alibaba PuHuiTi"/>
              </a:rPr>
              <a:t>有些仍然给人浏览，有些已经提供文件、安装入口和工程方法。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E4D9EA26-D859-491F-B899-75246313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00200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6"/>
          </a:solidFill>
          <a:ln xmlns:a="http://schemas.openxmlformats.org/drawingml/2006/main" w="0">
            <a:solidFill>
              <a:srgbClr val="101216"/>
            </a:solidFill>
            <a:prstDash val="solid"/>
          </a:ln>
        </p:spPr>
      </p:sp>
      <p:sp>
        <p:nvSpPr>
          <p:cNvPr id="4" name="stage-1-number">
            <a:extLst xmlns:a="http://schemas.openxmlformats.org/drawingml/2006/main">
              <a:ext uri="{FF2B5EF4-FFF2-40B4-BE49-F238E27FC236}">
                <a16:creationId xmlns:a16="http://schemas.microsoft.com/office/drawing/2014/main" id="{BBB5B255-D1C2-49A3-8AFC-F29916CE1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526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85A3A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350" b="1">
                <a:solidFill>
                  <a:srgbClr val="C85A3A"/>
                </a:solidFill>
                <a:latin typeface="Alibaba PuHuiTi"/>
                <a:ea typeface="Alibaba PuHuiTi"/>
                <a:cs typeface="Alibaba PuHuiTi"/>
              </a:rPr>
              <a:t>01</a:t>
            </a:r>
          </a:p>
        </p:txBody>
      </p:sp>
      <p:sp>
        <p:nvSpPr>
          <p:cNvPr id="5" name="stage-1-title">
            <a:extLst xmlns:a="http://schemas.openxmlformats.org/drawingml/2006/main">
              <a:ext uri="{FF2B5EF4-FFF2-40B4-BE49-F238E27FC236}">
                <a16:creationId xmlns:a16="http://schemas.microsoft.com/office/drawing/2014/main" id="{8A4D1356-8E63-48E2-BBAA-07920A490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247900"/>
            <a:ext cx="25765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2400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rPr>
              <a:t>发现</a:t>
            </a:r>
          </a:p>
        </p:txBody>
      </p:sp>
      <p:sp>
        <p:nvSpPr>
          <p:cNvPr id="6" name="stage-1-line">
            <a:extLst xmlns:a="http://schemas.openxmlformats.org/drawingml/2006/main">
              <a:ext uri="{FF2B5EF4-FFF2-40B4-BE49-F238E27FC236}">
                <a16:creationId xmlns:a16="http://schemas.microsoft.com/office/drawing/2014/main" id="{09A55E74-FE78-4E80-A570-A22828DF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24150"/>
            <a:ext cx="257651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C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575" b="0">
                <a:solidFill>
                  <a:srgbClr val="59616C"/>
                </a:solidFill>
                <a:latin typeface="Alibaba PuHuiTi"/>
                <a:ea typeface="Alibaba PuHuiTi"/>
                <a:cs typeface="Alibaba PuHuiTi"/>
              </a:rPr>
              <a:t>人来读，自己挑</a:t>
            </a:r>
          </a:p>
        </p:txBody>
      </p:sp>
      <p:sp>
        <p:nvSpPr>
          <p:cNvPr id="7" name="rule">
            <a:extLst xmlns:a="http://schemas.openxmlformats.org/drawingml/2006/main">
              <a:ext uri="{FF2B5EF4-FFF2-40B4-BE49-F238E27FC236}">
                <a16:creationId xmlns:a16="http://schemas.microsoft.com/office/drawing/2014/main" id="{6AF47511-9ABC-4C2E-A606-5EDC2A686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190875"/>
            <a:ext cx="257651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A3A"/>
          </a:solidFill>
          <a:ln xmlns:a="http://schemas.openxmlformats.org/drawingml/2006/main" w="0">
            <a:solidFill>
              <a:srgbClr val="C85A3A"/>
            </a:solidFill>
            <a:prstDash val="solid"/>
          </a:ln>
        </p:spPr>
      </p:sp>
      <p:sp>
        <p:nvSpPr>
          <p:cNvPr id="8" name="stage-1-repo-1">
            <a:extLst xmlns:a="http://schemas.openxmlformats.org/drawingml/2006/main">
              <a:ext uri="{FF2B5EF4-FFF2-40B4-BE49-F238E27FC236}">
                <a16:creationId xmlns:a16="http://schemas.microsoft.com/office/drawing/2014/main" id="{2138D3A0-4FC8-4EB5-9EEE-B4466FB4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476625"/>
            <a:ext cx="2576513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725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rPr>
              <a:t>awesome</a:t>
            </a:r>
          </a:p>
        </p:txBody>
      </p:sp>
      <p:sp>
        <p:nvSpPr>
          <p:cNvPr id="9" name="stage-1-repo-2">
            <a:extLst xmlns:a="http://schemas.openxmlformats.org/drawingml/2006/main">
              <a:ext uri="{FF2B5EF4-FFF2-40B4-BE49-F238E27FC236}">
                <a16:creationId xmlns:a16="http://schemas.microsoft.com/office/drawing/2014/main" id="{62DF3643-BF2F-472A-99F9-C85EA55A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171950"/>
            <a:ext cx="25765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575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rPr>
              <a:t>awesome-mcp-servers</a:t>
            </a:r>
          </a:p>
        </p:txBody>
      </p:sp>
      <p:sp>
        <p:nvSpPr>
          <p:cNvPr id="10" name="stage-2-number">
            <a:extLst xmlns:a="http://schemas.openxmlformats.org/drawingml/2006/main">
              <a:ext uri="{FF2B5EF4-FFF2-40B4-BE49-F238E27FC236}">
                <a16:creationId xmlns:a16="http://schemas.microsoft.com/office/drawing/2014/main" id="{87EBFA50-8B68-401F-AB45-2751A5546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19526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85A3A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350" b="1">
                <a:solidFill>
                  <a:srgbClr val="C85A3A"/>
                </a:solidFill>
                <a:latin typeface="Alibaba PuHuiTi"/>
                <a:ea typeface="Alibaba PuHuiTi"/>
                <a:cs typeface="Alibaba PuHuiTi"/>
              </a:rPr>
              <a:t>02</a:t>
            </a:r>
          </a:p>
        </p:txBody>
      </p:sp>
      <p:sp>
        <p:nvSpPr>
          <p:cNvPr id="11" name="stage-2-title">
            <a:extLst xmlns:a="http://schemas.openxmlformats.org/drawingml/2006/main">
              <a:ext uri="{FF2B5EF4-FFF2-40B4-BE49-F238E27FC236}">
                <a16:creationId xmlns:a16="http://schemas.microsoft.com/office/drawing/2014/main" id="{DDCAEF8A-DD13-4688-9096-21B86011A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2247900"/>
            <a:ext cx="25765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2400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rPr>
              <a:t>复用</a:t>
            </a:r>
          </a:p>
        </p:txBody>
      </p:sp>
      <p:sp>
        <p:nvSpPr>
          <p:cNvPr id="12" name="stage-2-line">
            <a:extLst xmlns:a="http://schemas.openxmlformats.org/drawingml/2006/main">
              <a:ext uri="{FF2B5EF4-FFF2-40B4-BE49-F238E27FC236}">
                <a16:creationId xmlns:a16="http://schemas.microsoft.com/office/drawing/2014/main" id="{30353F81-7B6B-49AA-9BC5-8F39807A9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2724150"/>
            <a:ext cx="257651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C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575" b="0">
                <a:solidFill>
                  <a:srgbClr val="59616C"/>
                </a:solidFill>
                <a:latin typeface="Alibaba PuHuiTi"/>
                <a:ea typeface="Alibaba PuHuiTi"/>
                <a:cs typeface="Alibaba PuHuiTi"/>
              </a:rPr>
              <a:t>拿走一份文件</a:t>
            </a:r>
          </a:p>
        </p:txBody>
      </p:sp>
      <p:sp>
        <p:nvSpPr>
          <p:cNvPr id="13" name="rule">
            <a:extLst xmlns:a="http://schemas.openxmlformats.org/drawingml/2006/main">
              <a:ext uri="{FF2B5EF4-FFF2-40B4-BE49-F238E27FC236}">
                <a16:creationId xmlns:a16="http://schemas.microsoft.com/office/drawing/2014/main" id="{17879CD5-1872-4ECA-B0E8-4BC0CA6A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3190875"/>
            <a:ext cx="257651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A3A"/>
          </a:solidFill>
          <a:ln xmlns:a="http://schemas.openxmlformats.org/drawingml/2006/main" w="0">
            <a:solidFill>
              <a:srgbClr val="C85A3A"/>
            </a:solidFill>
            <a:prstDash val="solid"/>
          </a:ln>
        </p:spPr>
      </p:sp>
      <p:sp>
        <p:nvSpPr>
          <p:cNvPr id="14" name="stage-2-repo-1">
            <a:extLst xmlns:a="http://schemas.openxmlformats.org/drawingml/2006/main">
              <a:ext uri="{FF2B5EF4-FFF2-40B4-BE49-F238E27FC236}">
                <a16:creationId xmlns:a16="http://schemas.microsoft.com/office/drawing/2014/main" id="{E8BC4298-7488-4F11-8CE4-5C08D699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3476625"/>
            <a:ext cx="2576513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725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rPr>
              <a:t>awesome-design-md</a:t>
            </a:r>
          </a:p>
        </p:txBody>
      </p:sp>
      <p:sp>
        <p:nvSpPr>
          <p:cNvPr id="15" name="stage-2-repo-2">
            <a:extLst xmlns:a="http://schemas.openxmlformats.org/drawingml/2006/main">
              <a:ext uri="{FF2B5EF4-FFF2-40B4-BE49-F238E27FC236}">
                <a16:creationId xmlns:a16="http://schemas.microsoft.com/office/drawing/2014/main" id="{A540827A-3B02-48FD-8807-1B7B9A0F7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6613" y="4171950"/>
            <a:ext cx="25765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575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rPr>
              <a:t>awesome-gpt-image-2</a:t>
            </a:r>
          </a:p>
        </p:txBody>
      </p:sp>
      <p:sp>
        <p:nvSpPr>
          <p:cNvPr id="16" name="stage-3-number">
            <a:extLst xmlns:a="http://schemas.openxmlformats.org/drawingml/2006/main">
              <a:ext uri="{FF2B5EF4-FFF2-40B4-BE49-F238E27FC236}">
                <a16:creationId xmlns:a16="http://schemas.microsoft.com/office/drawing/2014/main" id="{74FA373F-5765-4D42-8C60-5979BEEE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526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85A3A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350" b="1">
                <a:solidFill>
                  <a:srgbClr val="C85A3A"/>
                </a:solidFill>
                <a:latin typeface="Alibaba PuHuiTi"/>
                <a:ea typeface="Alibaba PuHuiTi"/>
                <a:cs typeface="Alibaba PuHuiTi"/>
              </a:rPr>
              <a:t>03</a:t>
            </a:r>
          </a:p>
        </p:txBody>
      </p:sp>
      <p:sp>
        <p:nvSpPr>
          <p:cNvPr id="17" name="stage-3-title">
            <a:extLst xmlns:a="http://schemas.openxmlformats.org/drawingml/2006/main">
              <a:ext uri="{FF2B5EF4-FFF2-40B4-BE49-F238E27FC236}">
                <a16:creationId xmlns:a16="http://schemas.microsoft.com/office/drawing/2014/main" id="{394383D5-3B5E-4913-820A-84A4C35AF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47900"/>
            <a:ext cx="25765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2400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rPr>
              <a:t>安装</a:t>
            </a:r>
          </a:p>
        </p:txBody>
      </p:sp>
      <p:sp>
        <p:nvSpPr>
          <p:cNvPr id="18" name="stage-3-line">
            <a:extLst xmlns:a="http://schemas.openxmlformats.org/drawingml/2006/main">
              <a:ext uri="{FF2B5EF4-FFF2-40B4-BE49-F238E27FC236}">
                <a16:creationId xmlns:a16="http://schemas.microsoft.com/office/drawing/2014/main" id="{942B7C01-F652-406A-8991-AFCF2D2FF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724150"/>
            <a:ext cx="257651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C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575" b="0">
                <a:solidFill>
                  <a:srgbClr val="59616C"/>
                </a:solidFill>
                <a:latin typeface="Alibaba PuHuiTi"/>
                <a:ea typeface="Alibaba PuHuiTi"/>
                <a:cs typeface="Alibaba PuHuiTi"/>
              </a:rPr>
              <a:t>交给工具安装</a:t>
            </a:r>
          </a:p>
        </p:txBody>
      </p:sp>
      <p:sp>
        <p:nvSpPr>
          <p:cNvPr id="19" name="rule">
            <a:extLst xmlns:a="http://schemas.openxmlformats.org/drawingml/2006/main">
              <a:ext uri="{FF2B5EF4-FFF2-40B4-BE49-F238E27FC236}">
                <a16:creationId xmlns:a16="http://schemas.microsoft.com/office/drawing/2014/main" id="{093C32B8-CB8C-4C9B-A459-26C0E373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190875"/>
            <a:ext cx="257651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A3A"/>
          </a:solidFill>
          <a:ln xmlns:a="http://schemas.openxmlformats.org/drawingml/2006/main" w="0">
            <a:solidFill>
              <a:srgbClr val="C85A3A"/>
            </a:solidFill>
            <a:prstDash val="solid"/>
          </a:ln>
        </p:spPr>
      </p:sp>
      <p:sp>
        <p:nvSpPr>
          <p:cNvPr id="20" name="stage-3-repo-1">
            <a:extLst xmlns:a="http://schemas.openxmlformats.org/drawingml/2006/main">
              <a:ext uri="{FF2B5EF4-FFF2-40B4-BE49-F238E27FC236}">
                <a16:creationId xmlns:a16="http://schemas.microsoft.com/office/drawing/2014/main" id="{73F4ADA8-C5F4-4845-BC7E-C8B023FE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476625"/>
            <a:ext cx="2576513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725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rPr>
              <a:t>vercel-labs/skills</a:t>
            </a:r>
          </a:p>
        </p:txBody>
      </p:sp>
      <p:sp>
        <p:nvSpPr>
          <p:cNvPr id="21" name="stage-3-repo-2">
            <a:extLst xmlns:a="http://schemas.openxmlformats.org/drawingml/2006/main">
              <a:ext uri="{FF2B5EF4-FFF2-40B4-BE49-F238E27FC236}">
                <a16:creationId xmlns:a16="http://schemas.microsoft.com/office/drawing/2014/main" id="{DD5242CD-6380-4F47-95B6-447CD9BE2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171950"/>
            <a:ext cx="25765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725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rPr>
              <a:t>anthropics/skills</a:t>
            </a:r>
          </a:p>
        </p:txBody>
      </p:sp>
      <p:sp>
        <p:nvSpPr>
          <p:cNvPr id="22" name="stage-4-number">
            <a:extLst xmlns:a="http://schemas.openxmlformats.org/drawingml/2006/main">
              <a:ext uri="{FF2B5EF4-FFF2-40B4-BE49-F238E27FC236}">
                <a16:creationId xmlns:a16="http://schemas.microsoft.com/office/drawing/2014/main" id="{238EB17D-D22B-40AC-B268-C4E0B660C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1952625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C85A3A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350" b="1">
                <a:solidFill>
                  <a:srgbClr val="C85A3A"/>
                </a:solidFill>
                <a:latin typeface="Alibaba PuHuiTi"/>
                <a:ea typeface="Alibaba PuHuiTi"/>
                <a:cs typeface="Alibaba PuHuiTi"/>
              </a:rPr>
              <a:t>04</a:t>
            </a:r>
          </a:p>
        </p:txBody>
      </p:sp>
      <p:sp>
        <p:nvSpPr>
          <p:cNvPr id="23" name="stage-4-title">
            <a:extLst xmlns:a="http://schemas.openxmlformats.org/drawingml/2006/main">
              <a:ext uri="{FF2B5EF4-FFF2-40B4-BE49-F238E27FC236}">
                <a16:creationId xmlns:a16="http://schemas.microsoft.com/office/drawing/2014/main" id="{E55B2826-FE79-4FA7-839F-FAF9A3665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2247900"/>
            <a:ext cx="2576513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2400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rPr>
              <a:t>工作方法</a:t>
            </a:r>
          </a:p>
        </p:txBody>
      </p:sp>
      <p:sp>
        <p:nvSpPr>
          <p:cNvPr id="24" name="stage-4-line">
            <a:extLst xmlns:a="http://schemas.openxmlformats.org/drawingml/2006/main">
              <a:ext uri="{FF2B5EF4-FFF2-40B4-BE49-F238E27FC236}">
                <a16:creationId xmlns:a16="http://schemas.microsoft.com/office/drawing/2014/main" id="{6F074CB2-8B7F-4BE6-BC61-73E9F1E09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2724150"/>
            <a:ext cx="2576513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C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575" b="0">
                <a:solidFill>
                  <a:srgbClr val="59616C"/>
                </a:solidFill>
                <a:latin typeface="Alibaba PuHuiTi"/>
                <a:ea typeface="Alibaba PuHuiTi"/>
                <a:cs typeface="Alibaba PuHuiTi"/>
              </a:rPr>
              <a:t>规定 agent 怎么做</a:t>
            </a:r>
          </a:p>
        </p:txBody>
      </p:sp>
      <p:sp>
        <p:nvSpPr>
          <p:cNvPr id="25" name="rule">
            <a:extLst xmlns:a="http://schemas.openxmlformats.org/drawingml/2006/main">
              <a:ext uri="{FF2B5EF4-FFF2-40B4-BE49-F238E27FC236}">
                <a16:creationId xmlns:a16="http://schemas.microsoft.com/office/drawing/2014/main" id="{E4903970-601A-4CCE-B052-E57B95C7F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3190875"/>
            <a:ext cx="2576513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A3A"/>
          </a:solidFill>
          <a:ln xmlns:a="http://schemas.openxmlformats.org/drawingml/2006/main" w="0">
            <a:solidFill>
              <a:srgbClr val="C85A3A"/>
            </a:solidFill>
            <a:prstDash val="solid"/>
          </a:ln>
        </p:spPr>
      </p:sp>
      <p:sp>
        <p:nvSpPr>
          <p:cNvPr id="26" name="stage-4-repo-1">
            <a:extLst xmlns:a="http://schemas.openxmlformats.org/drawingml/2006/main">
              <a:ext uri="{FF2B5EF4-FFF2-40B4-BE49-F238E27FC236}">
                <a16:creationId xmlns:a16="http://schemas.microsoft.com/office/drawing/2014/main" id="{86860DFE-FFA4-4671-80A7-090578F96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3476625"/>
            <a:ext cx="2576513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725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rPr>
              <a:t>obra/superpowers</a:t>
            </a:r>
          </a:p>
        </p:txBody>
      </p:sp>
      <p:sp>
        <p:nvSpPr>
          <p:cNvPr id="27" name="stage-4-repo-2">
            <a:extLst xmlns:a="http://schemas.openxmlformats.org/drawingml/2006/main">
              <a:ext uri="{FF2B5EF4-FFF2-40B4-BE49-F238E27FC236}">
                <a16:creationId xmlns:a16="http://schemas.microsoft.com/office/drawing/2014/main" id="{E0FBCB8F-15B7-463C-AE5E-D91714A0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4171950"/>
            <a:ext cx="2576513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725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rPr>
              <a:t>github/spec-kit</a:t>
            </a:r>
          </a:p>
        </p:txBody>
      </p:sp>
      <p:sp>
        <p:nvSpPr>
          <p:cNvPr id="28" name="rule">
            <a:extLst xmlns:a="http://schemas.openxmlformats.org/drawingml/2006/main">
              <a:ext uri="{FF2B5EF4-FFF2-40B4-BE49-F238E27FC236}">
                <a16:creationId xmlns:a16="http://schemas.microsoft.com/office/drawing/2014/main" id="{02181C5B-317F-4008-B126-393C256C0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305425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9"/>
          </a:solidFill>
          <a:ln xmlns:a="http://schemas.openxmlformats.org/drawingml/2006/main" w="0">
            <a:solidFill>
              <a:srgbClr val="E4E6E9"/>
            </a:solidFill>
            <a:prstDash val="solid"/>
          </a:ln>
        </p:spPr>
      </p:sp>
      <p:sp>
        <p:nvSpPr>
          <p:cNvPr id="29" name="overview-takeaway">
            <a:extLst xmlns:a="http://schemas.openxmlformats.org/drawingml/2006/main">
              <a:ext uri="{FF2B5EF4-FFF2-40B4-BE49-F238E27FC236}">
                <a16:creationId xmlns:a16="http://schemas.microsoft.com/office/drawing/2014/main" id="{0261BBAD-1920-419F-B67A-B136EC441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00700"/>
            <a:ext cx="9810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2250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rPr>
              <a:t>越靠右，agent 可以直接使用的内容越多。</a:t>
            </a:r>
          </a:p>
        </p:txBody>
      </p:sp>
    </p:spTree>
    <p:extLst>
      <p:ext uri="{BB962C8B-B14F-4D97-AF65-F5344CB8AC3E}">
        <p14:creationId xmlns:p14="http://schemas.microsoft.com/office/powerpoint/2010/main" val="254174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64D6825-C5D3-4C49-8DFF-D568BAA5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3150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rPr>
              <a:t>目录还在，内容已经可以直接放进项目里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FFE6C27-C483-4FAB-A393-8E2099C5A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093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C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575" b="0">
                <a:solidFill>
                  <a:srgbClr val="59616C"/>
                </a:solidFill>
                <a:latin typeface="Alibaba PuHuiTi"/>
                <a:ea typeface="Alibaba PuHuiTi"/>
                <a:cs typeface="Alibaba PuHuiTi"/>
              </a:rPr>
              <a:t>这四个项目分别交付入口、工具接口、设计规则和生图方法。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ADCC59B9-A7B6-477B-B4C3-CD4AF841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6"/>
          </a:solidFill>
          <a:ln xmlns:a="http://schemas.openxmlformats.org/drawingml/2006/main" w="0">
            <a:solidFill>
              <a:srgbClr val="101216"/>
            </a:solidFill>
            <a:prstDash val="solid"/>
          </a:ln>
        </p:spPr>
      </p:sp>
      <p:sp>
        <p:nvSpPr>
          <p:cNvPr id="4" name="project-1-name">
            <a:extLst xmlns:a="http://schemas.openxmlformats.org/drawingml/2006/main">
              <a:ext uri="{FF2B5EF4-FFF2-40B4-BE49-F238E27FC236}">
                <a16:creationId xmlns:a16="http://schemas.microsoft.com/office/drawing/2014/main" id="{BCC11333-3C13-465C-BA81-86651856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1447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875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rPr>
              <a:t>awesome</a:t>
            </a:r>
          </a:p>
        </p:txBody>
      </p:sp>
      <p:sp>
        <p:nvSpPr>
          <p:cNvPr id="5" name="project-1-owner">
            <a:extLst xmlns:a="http://schemas.openxmlformats.org/drawingml/2006/main">
              <a:ext uri="{FF2B5EF4-FFF2-40B4-BE49-F238E27FC236}">
                <a16:creationId xmlns:a16="http://schemas.microsoft.com/office/drawing/2014/main" id="{D6706F76-9BFF-47A5-ACA4-A4B25F7DA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573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9616C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125" b="0">
                <a:solidFill>
                  <a:srgbClr val="59616C"/>
                </a:solidFill>
                <a:latin typeface="Alibaba PuHuiTi"/>
                <a:ea typeface="Alibaba PuHuiTi"/>
                <a:cs typeface="Alibaba PuHuiTi"/>
              </a:rPr>
              <a:t>sindresorhus</a:t>
            </a:r>
          </a:p>
        </p:txBody>
      </p:sp>
      <p:sp>
        <p:nvSpPr>
          <p:cNvPr id="6" name="project-1-tag">
            <a:extLst xmlns:a="http://schemas.openxmlformats.org/drawingml/2006/main">
              <a:ext uri="{FF2B5EF4-FFF2-40B4-BE49-F238E27FC236}">
                <a16:creationId xmlns:a16="http://schemas.microsoft.com/office/drawing/2014/main" id="{F0E7B801-C9A7-433B-9B66-0BE357BC5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431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C85A3A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275" b="1">
                <a:solidFill>
                  <a:srgbClr val="C85A3A"/>
                </a:solidFill>
                <a:latin typeface="Alibaba PuHuiTi"/>
                <a:ea typeface="Alibaba PuHuiTi"/>
                <a:cs typeface="Alibaba PuHuiTi"/>
              </a:rPr>
              <a:t>经典元目录</a:t>
            </a:r>
          </a:p>
        </p:txBody>
      </p:sp>
      <p:sp>
        <p:nvSpPr>
          <p:cNvPr id="7" name="project-1-what">
            <a:extLst xmlns:a="http://schemas.openxmlformats.org/drawingml/2006/main">
              <a:ext uri="{FF2B5EF4-FFF2-40B4-BE49-F238E27FC236}">
                <a16:creationId xmlns:a16="http://schemas.microsoft.com/office/drawing/2014/main" id="{79FB417E-543E-4759-ABEA-DE879B7B2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95425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650" b="0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rPr>
              <a:t>它是一份“列表的列表”。主题从命令行工具到设计资源，先帮人找到下一份清单。</a:t>
            </a:r>
          </a:p>
        </p:txBody>
      </p:sp>
      <p:sp>
        <p:nvSpPr>
          <p:cNvPr id="8" name="project-1-use">
            <a:extLst xmlns:a="http://schemas.openxmlformats.org/drawingml/2006/main">
              <a:ext uri="{FF2B5EF4-FFF2-40B4-BE49-F238E27FC236}">
                <a16:creationId xmlns:a16="http://schemas.microsoft.com/office/drawing/2014/main" id="{B99D8A35-A3B1-4F61-9A4C-72D43379B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7645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C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425" b="0">
                <a:solidFill>
                  <a:srgbClr val="59616C"/>
                </a:solidFill>
                <a:latin typeface="Alibaba PuHuiTi"/>
                <a:ea typeface="Alibaba PuHuiTi"/>
                <a:cs typeface="Alibaba PuHuiTi"/>
              </a:rPr>
              <a:t>使用者自己浏览、判断，再把需要的项目摘出来。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D335C6CB-CEEE-408D-AE98-39A8EA5C1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0325"/>
            <a:ext cx="10991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9"/>
          </a:solidFill>
          <a:ln xmlns:a="http://schemas.openxmlformats.org/drawingml/2006/main" w="0">
            <a:solidFill>
              <a:srgbClr val="E4E6E9"/>
            </a:solidFill>
            <a:prstDash val="solid"/>
          </a:ln>
        </p:spPr>
      </p:sp>
      <p:sp>
        <p:nvSpPr>
          <p:cNvPr id="10" name="project-2-name">
            <a:extLst xmlns:a="http://schemas.openxmlformats.org/drawingml/2006/main">
              <a:ext uri="{FF2B5EF4-FFF2-40B4-BE49-F238E27FC236}">
                <a16:creationId xmlns:a16="http://schemas.microsoft.com/office/drawing/2014/main" id="{4CC15EB9-ED32-4B12-AB1C-42CED264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875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rPr>
              <a:t>awesome-mcp-servers</a:t>
            </a:r>
          </a:p>
        </p:txBody>
      </p:sp>
      <p:sp>
        <p:nvSpPr>
          <p:cNvPr id="11" name="project-2-owner">
            <a:extLst xmlns:a="http://schemas.openxmlformats.org/drawingml/2006/main">
              <a:ext uri="{FF2B5EF4-FFF2-40B4-BE49-F238E27FC236}">
                <a16:creationId xmlns:a16="http://schemas.microsoft.com/office/drawing/2014/main" id="{67A2DCC9-EED4-42AE-9D88-B21EF8394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24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9616C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125" b="0">
                <a:solidFill>
                  <a:srgbClr val="59616C"/>
                </a:solidFill>
                <a:latin typeface="Alibaba PuHuiTi"/>
                <a:ea typeface="Alibaba PuHuiTi"/>
                <a:cs typeface="Alibaba PuHuiTi"/>
              </a:rPr>
              <a:t>punkpeye</a:t>
            </a:r>
          </a:p>
        </p:txBody>
      </p:sp>
      <p:sp>
        <p:nvSpPr>
          <p:cNvPr id="12" name="project-2-tag">
            <a:extLst xmlns:a="http://schemas.openxmlformats.org/drawingml/2006/main">
              <a:ext uri="{FF2B5EF4-FFF2-40B4-BE49-F238E27FC236}">
                <a16:creationId xmlns:a16="http://schemas.microsoft.com/office/drawing/2014/main" id="{5312905E-C48B-4765-BFCE-C6825574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9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C85A3A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275" b="1">
                <a:solidFill>
                  <a:srgbClr val="C85A3A"/>
                </a:solidFill>
                <a:latin typeface="Alibaba PuHuiTi"/>
                <a:ea typeface="Alibaba PuHuiTi"/>
                <a:cs typeface="Alibaba PuHuiTi"/>
              </a:rPr>
              <a:t>工具目录</a:t>
            </a:r>
          </a:p>
        </p:txBody>
      </p:sp>
      <p:sp>
        <p:nvSpPr>
          <p:cNvPr id="13" name="project-2-what">
            <a:extLst xmlns:a="http://schemas.openxmlformats.org/drawingml/2006/main">
              <a:ext uri="{FF2B5EF4-FFF2-40B4-BE49-F238E27FC236}">
                <a16:creationId xmlns:a16="http://schemas.microsoft.com/office/drawing/2014/main" id="{E5A8D84A-E797-4F62-8AFD-4C6263437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6225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650" b="0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rPr>
              <a:t>它收集 MCP servers：搜索、数据库、浏览器、文件系统等可供 agent 调用的外部能力。</a:t>
            </a:r>
          </a:p>
        </p:txBody>
      </p:sp>
      <p:sp>
        <p:nvSpPr>
          <p:cNvPr id="14" name="project-2-use">
            <a:extLst xmlns:a="http://schemas.openxmlformats.org/drawingml/2006/main">
              <a:ext uri="{FF2B5EF4-FFF2-40B4-BE49-F238E27FC236}">
                <a16:creationId xmlns:a16="http://schemas.microsoft.com/office/drawing/2014/main" id="{BE83858E-D19C-4505-B416-B4CA7C0A1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4327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C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425" b="0">
                <a:solidFill>
                  <a:srgbClr val="59616C"/>
                </a:solidFill>
                <a:latin typeface="Alibaba PuHuiTi"/>
                <a:ea typeface="Alibaba PuHuiTi"/>
                <a:cs typeface="Alibaba PuHuiTi"/>
              </a:rPr>
              <a:t>人仍然负责挑选，但清单里的条目已经接近 agent 的工具接口。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0D46BFFD-EBED-4287-9745-91EF0911D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67150"/>
            <a:ext cx="10991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9"/>
          </a:solidFill>
          <a:ln xmlns:a="http://schemas.openxmlformats.org/drawingml/2006/main" w="0">
            <a:solidFill>
              <a:srgbClr val="E4E6E9"/>
            </a:solidFill>
            <a:prstDash val="solid"/>
          </a:ln>
        </p:spPr>
      </p:sp>
      <p:sp>
        <p:nvSpPr>
          <p:cNvPr id="16" name="project-3-name">
            <a:extLst xmlns:a="http://schemas.openxmlformats.org/drawingml/2006/main">
              <a:ext uri="{FF2B5EF4-FFF2-40B4-BE49-F238E27FC236}">
                <a16:creationId xmlns:a16="http://schemas.microsoft.com/office/drawing/2014/main" id="{15E6BF40-91A9-46ED-B7AD-B5C16DA29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481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875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rPr>
              <a:t>awesome-design-md</a:t>
            </a:r>
          </a:p>
        </p:txBody>
      </p:sp>
      <p:sp>
        <p:nvSpPr>
          <p:cNvPr id="17" name="project-3-owner">
            <a:extLst xmlns:a="http://schemas.openxmlformats.org/drawingml/2006/main">
              <a:ext uri="{FF2B5EF4-FFF2-40B4-BE49-F238E27FC236}">
                <a16:creationId xmlns:a16="http://schemas.microsoft.com/office/drawing/2014/main" id="{B3C21A68-2A9C-4242-838A-786171AE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910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9616C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125" b="0">
                <a:solidFill>
                  <a:srgbClr val="59616C"/>
                </a:solidFill>
                <a:latin typeface="Alibaba PuHuiTi"/>
                <a:ea typeface="Alibaba PuHuiTi"/>
                <a:cs typeface="Alibaba PuHuiTi"/>
              </a:rPr>
              <a:t>VoltAgent</a:t>
            </a:r>
          </a:p>
        </p:txBody>
      </p:sp>
      <p:sp>
        <p:nvSpPr>
          <p:cNvPr id="18" name="project-3-tag">
            <a:extLst xmlns:a="http://schemas.openxmlformats.org/drawingml/2006/main">
              <a:ext uri="{FF2B5EF4-FFF2-40B4-BE49-F238E27FC236}">
                <a16:creationId xmlns:a16="http://schemas.microsoft.com/office/drawing/2014/main" id="{BAA67576-E9E3-4BA9-8C02-8AA81827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767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C85A3A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275" b="1">
                <a:solidFill>
                  <a:srgbClr val="C85A3A"/>
                </a:solidFill>
                <a:latin typeface="Alibaba PuHuiTi"/>
                <a:ea typeface="Alibaba PuHuiTi"/>
                <a:cs typeface="Alibaba PuHuiTi"/>
              </a:rPr>
              <a:t>设计规则文件</a:t>
            </a:r>
          </a:p>
        </p:txBody>
      </p:sp>
      <p:sp>
        <p:nvSpPr>
          <p:cNvPr id="19" name="project-3-what">
            <a:extLst xmlns:a="http://schemas.openxmlformats.org/drawingml/2006/main">
              <a:ext uri="{FF2B5EF4-FFF2-40B4-BE49-F238E27FC236}">
                <a16:creationId xmlns:a16="http://schemas.microsoft.com/office/drawing/2014/main" id="{279395B9-46D8-4F95-91C5-213464457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29075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650" b="0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rPr>
              <a:t>它把品牌网站的颜色、字体、组件和禁区整理成 DESIGN.md。</a:t>
            </a:r>
          </a:p>
        </p:txBody>
      </p:sp>
      <p:sp>
        <p:nvSpPr>
          <p:cNvPr id="20" name="project-3-use">
            <a:extLst xmlns:a="http://schemas.openxmlformats.org/drawingml/2006/main">
              <a:ext uri="{FF2B5EF4-FFF2-40B4-BE49-F238E27FC236}">
                <a16:creationId xmlns:a16="http://schemas.microsoft.com/office/drawing/2014/main" id="{029450BC-B672-42EE-B2B6-3E88B67D5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1010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C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425" b="0">
                <a:solidFill>
                  <a:srgbClr val="59616C"/>
                </a:solidFill>
                <a:latin typeface="Alibaba PuHuiTi"/>
                <a:ea typeface="Alibaba PuHuiTi"/>
                <a:cs typeface="Alibaba PuHuiTi"/>
              </a:rPr>
              <a:t>把文件放进项目，coding agent 就能按这套设计规则生成 UI。</a:t>
            </a:r>
          </a:p>
        </p:txBody>
      </p:sp>
      <p:sp>
        <p:nvSpPr>
          <p:cNvPr id="21" name="rule">
            <a:extLst xmlns:a="http://schemas.openxmlformats.org/drawingml/2006/main">
              <a:ext uri="{FF2B5EF4-FFF2-40B4-BE49-F238E27FC236}">
                <a16:creationId xmlns:a16="http://schemas.microsoft.com/office/drawing/2014/main" id="{C9A39749-7F10-448F-855D-8EA31AD32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33975"/>
            <a:ext cx="10991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9"/>
          </a:solidFill>
          <a:ln xmlns:a="http://schemas.openxmlformats.org/drawingml/2006/main" w="0">
            <a:solidFill>
              <a:srgbClr val="E4E6E9"/>
            </a:solidFill>
            <a:prstDash val="solid"/>
          </a:ln>
        </p:spPr>
      </p:sp>
      <p:sp>
        <p:nvSpPr>
          <p:cNvPr id="22" name="project-4-name">
            <a:extLst xmlns:a="http://schemas.openxmlformats.org/drawingml/2006/main">
              <a:ext uri="{FF2B5EF4-FFF2-40B4-BE49-F238E27FC236}">
                <a16:creationId xmlns:a16="http://schemas.microsoft.com/office/drawing/2014/main" id="{3F8A7355-E0A0-4C3F-9FF4-80D12125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875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rPr>
              <a:t>awesome-gpt-image-2</a:t>
            </a:r>
          </a:p>
        </p:txBody>
      </p:sp>
      <p:sp>
        <p:nvSpPr>
          <p:cNvPr id="23" name="project-4-owner">
            <a:extLst xmlns:a="http://schemas.openxmlformats.org/drawingml/2006/main">
              <a:ext uri="{FF2B5EF4-FFF2-40B4-BE49-F238E27FC236}">
                <a16:creationId xmlns:a16="http://schemas.microsoft.com/office/drawing/2014/main" id="{B8EB0E19-3970-4D33-A8BF-E35D2955D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9616C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125" b="0">
                <a:solidFill>
                  <a:srgbClr val="59616C"/>
                </a:solidFill>
                <a:latin typeface="Alibaba PuHuiTi"/>
                <a:ea typeface="Alibaba PuHuiTi"/>
                <a:cs typeface="Alibaba PuHuiTi"/>
              </a:rPr>
              <a:t>freestylefly</a:t>
            </a:r>
          </a:p>
        </p:txBody>
      </p:sp>
      <p:sp>
        <p:nvSpPr>
          <p:cNvPr id="24" name="project-4-tag">
            <a:extLst xmlns:a="http://schemas.openxmlformats.org/drawingml/2006/main">
              <a:ext uri="{FF2B5EF4-FFF2-40B4-BE49-F238E27FC236}">
                <a16:creationId xmlns:a16="http://schemas.microsoft.com/office/drawing/2014/main" id="{CD6C0E06-1585-45C8-B860-371B3015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C85A3A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275" b="1">
                <a:solidFill>
                  <a:srgbClr val="C85A3A"/>
                </a:solidFill>
                <a:latin typeface="Alibaba PuHuiTi"/>
                <a:ea typeface="Alibaba PuHuiTi"/>
                <a:cs typeface="Alibaba PuHuiTi"/>
              </a:rPr>
              <a:t>生图方法库</a:t>
            </a:r>
          </a:p>
        </p:txBody>
      </p:sp>
      <p:sp>
        <p:nvSpPr>
          <p:cNvPr id="25" name="project-4-what">
            <a:extLst xmlns:a="http://schemas.openxmlformats.org/drawingml/2006/main">
              <a:ext uri="{FF2B5EF4-FFF2-40B4-BE49-F238E27FC236}">
                <a16:creationId xmlns:a16="http://schemas.microsoft.com/office/drawing/2014/main" id="{5C89E833-049C-4235-B1EC-DA5045FFE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9590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650" b="0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rPr>
              <a:t>它把生图案例、模板和 style library 放在一起，并把常用做法提炼成 skill。</a:t>
            </a:r>
          </a:p>
        </p:txBody>
      </p:sp>
      <p:sp>
        <p:nvSpPr>
          <p:cNvPr id="26" name="project-4-use">
            <a:extLst xmlns:a="http://schemas.openxmlformats.org/drawingml/2006/main">
              <a:ext uri="{FF2B5EF4-FFF2-40B4-BE49-F238E27FC236}">
                <a16:creationId xmlns:a16="http://schemas.microsoft.com/office/drawing/2014/main" id="{A602E6C3-E306-4A79-B4A4-EADC04BD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769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C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425" b="0">
                <a:solidFill>
                  <a:srgbClr val="59616C"/>
                </a:solidFill>
                <a:latin typeface="Alibaba PuHuiTi"/>
                <a:ea typeface="Alibaba PuHuiTi"/>
                <a:cs typeface="Alibaba PuHuiTi"/>
              </a:rPr>
              <a:t>人可以看案例，agent 也可以直接复用模板和操作步骤。</a:t>
            </a:r>
          </a:p>
        </p:txBody>
      </p:sp>
    </p:spTree>
    <p:extLst>
      <p:ext uri="{BB962C8B-B14F-4D97-AF65-F5344CB8AC3E}">
        <p14:creationId xmlns:p14="http://schemas.microsoft.com/office/powerpoint/2010/main" val="376436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898A634-E171-4BEE-A40D-1A1412E3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1104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3150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rPr>
              <a:t>更进一步，仓库开始规定 agent 怎么工作</a:t>
            </a:r>
          </a:p>
        </p:txBody>
      </p:sp>
      <p:sp>
        <p:nvSpPr>
          <p:cNvPr id="2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EDB0432-2561-4BB4-BCB1-826BBEBFD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95350"/>
            <a:ext cx="10934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59616C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575" b="0">
                <a:solidFill>
                  <a:srgbClr val="59616C"/>
                </a:solidFill>
                <a:latin typeface="Alibaba PuHuiTi"/>
                <a:ea typeface="Alibaba PuHuiTi"/>
                <a:cs typeface="Alibaba PuHuiTi"/>
              </a:rPr>
              <a:t>安装器解决“怎么拿到”，方法库解决“拿到以后怎么做”。</a:t>
            </a:r>
          </a:p>
        </p:txBody>
      </p:sp>
      <p:sp>
        <p:nvSpPr>
          <p:cNvPr id="3" name="rule">
            <a:extLst xmlns:a="http://schemas.openxmlformats.org/drawingml/2006/main">
              <a:ext uri="{FF2B5EF4-FFF2-40B4-BE49-F238E27FC236}">
                <a16:creationId xmlns:a16="http://schemas.microsoft.com/office/drawing/2014/main" id="{4B82A420-FA0B-4E5A-9C48-7BDC321A1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85875"/>
            <a:ext cx="111633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216"/>
          </a:solidFill>
          <a:ln xmlns:a="http://schemas.openxmlformats.org/drawingml/2006/main" w="0">
            <a:solidFill>
              <a:srgbClr val="101216"/>
            </a:solidFill>
            <a:prstDash val="solid"/>
          </a:ln>
        </p:spPr>
      </p:sp>
      <p:sp>
        <p:nvSpPr>
          <p:cNvPr id="4" name="project-1-name">
            <a:extLst xmlns:a="http://schemas.openxmlformats.org/drawingml/2006/main">
              <a:ext uri="{FF2B5EF4-FFF2-40B4-BE49-F238E27FC236}">
                <a16:creationId xmlns:a16="http://schemas.microsoft.com/office/drawing/2014/main" id="{AA6D8EB3-BF60-4C04-A902-49004554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1447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875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rPr>
              <a:t>skills</a:t>
            </a:r>
          </a:p>
        </p:txBody>
      </p:sp>
      <p:sp>
        <p:nvSpPr>
          <p:cNvPr id="5" name="project-1-owner">
            <a:extLst xmlns:a="http://schemas.openxmlformats.org/drawingml/2006/main">
              <a:ext uri="{FF2B5EF4-FFF2-40B4-BE49-F238E27FC236}">
                <a16:creationId xmlns:a16="http://schemas.microsoft.com/office/drawing/2014/main" id="{A666212E-4E72-4EEC-B856-FD2935E59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5737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9616C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125" b="0">
                <a:solidFill>
                  <a:srgbClr val="59616C"/>
                </a:solidFill>
                <a:latin typeface="Alibaba PuHuiTi"/>
                <a:ea typeface="Alibaba PuHuiTi"/>
                <a:cs typeface="Alibaba PuHuiTi"/>
              </a:rPr>
              <a:t>vercel-labs</a:t>
            </a:r>
          </a:p>
        </p:txBody>
      </p:sp>
      <p:sp>
        <p:nvSpPr>
          <p:cNvPr id="6" name="project-1-tag">
            <a:extLst xmlns:a="http://schemas.openxmlformats.org/drawingml/2006/main">
              <a:ext uri="{FF2B5EF4-FFF2-40B4-BE49-F238E27FC236}">
                <a16:creationId xmlns:a16="http://schemas.microsoft.com/office/drawing/2014/main" id="{A4F7CE0E-24BE-4142-9C33-79130789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431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C85A3A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275" b="1">
                <a:solidFill>
                  <a:srgbClr val="C85A3A"/>
                </a:solidFill>
                <a:latin typeface="Alibaba PuHuiTi"/>
                <a:ea typeface="Alibaba PuHuiTi"/>
                <a:cs typeface="Alibaba PuHuiTi"/>
              </a:rPr>
              <a:t>Skill 安装器</a:t>
            </a:r>
          </a:p>
        </p:txBody>
      </p:sp>
      <p:sp>
        <p:nvSpPr>
          <p:cNvPr id="7" name="project-1-what">
            <a:extLst xmlns:a="http://schemas.openxmlformats.org/drawingml/2006/main">
              <a:ext uri="{FF2B5EF4-FFF2-40B4-BE49-F238E27FC236}">
                <a16:creationId xmlns:a16="http://schemas.microsoft.com/office/drawing/2014/main" id="{9CDC4D19-3ACD-4ED7-A9B8-105132E7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495425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650" b="0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rPr>
              <a:t>它既是 skill 目录，也是命令行工具。npx skills 可以搜索、安装或运行 skill。</a:t>
            </a:r>
          </a:p>
        </p:txBody>
      </p:sp>
      <p:sp>
        <p:nvSpPr>
          <p:cNvPr id="8" name="project-1-use">
            <a:extLst xmlns:a="http://schemas.openxmlformats.org/drawingml/2006/main">
              <a:ext uri="{FF2B5EF4-FFF2-40B4-BE49-F238E27FC236}">
                <a16:creationId xmlns:a16="http://schemas.microsoft.com/office/drawing/2014/main" id="{1A5C510C-A79F-4D1C-897E-752E8247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07645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C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425" b="0">
                <a:solidFill>
                  <a:srgbClr val="59616C"/>
                </a:solidFill>
                <a:latin typeface="Alibaba PuHuiTi"/>
                <a:ea typeface="Alibaba PuHuiTi"/>
                <a:cs typeface="Alibaba PuHuiTi"/>
              </a:rPr>
              <a:t>清单开始有包管理器的感觉：找到以后，下一步可以交给工具完成。</a:t>
            </a:r>
          </a:p>
        </p:txBody>
      </p:sp>
      <p:sp>
        <p:nvSpPr>
          <p:cNvPr id="9" name="rule">
            <a:extLst xmlns:a="http://schemas.openxmlformats.org/drawingml/2006/main">
              <a:ext uri="{FF2B5EF4-FFF2-40B4-BE49-F238E27FC236}">
                <a16:creationId xmlns:a16="http://schemas.microsoft.com/office/drawing/2014/main" id="{1AB080F3-8176-4CBE-BE87-6BBC08981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00325"/>
            <a:ext cx="10991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9"/>
          </a:solidFill>
          <a:ln xmlns:a="http://schemas.openxmlformats.org/drawingml/2006/main" w="0">
            <a:solidFill>
              <a:srgbClr val="E4E6E9"/>
            </a:solidFill>
            <a:prstDash val="solid"/>
          </a:ln>
        </p:spPr>
      </p:sp>
      <p:sp>
        <p:nvSpPr>
          <p:cNvPr id="10" name="project-2-name">
            <a:extLst xmlns:a="http://schemas.openxmlformats.org/drawingml/2006/main">
              <a:ext uri="{FF2B5EF4-FFF2-40B4-BE49-F238E27FC236}">
                <a16:creationId xmlns:a16="http://schemas.microsoft.com/office/drawing/2014/main" id="{4784622E-9692-4DD2-A754-D8EEB0EE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7813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875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rPr>
              <a:t>skills</a:t>
            </a:r>
          </a:p>
        </p:txBody>
      </p:sp>
      <p:sp>
        <p:nvSpPr>
          <p:cNvPr id="11" name="project-2-owner">
            <a:extLst xmlns:a="http://schemas.openxmlformats.org/drawingml/2006/main">
              <a:ext uri="{FF2B5EF4-FFF2-40B4-BE49-F238E27FC236}">
                <a16:creationId xmlns:a16="http://schemas.microsoft.com/office/drawing/2014/main" id="{89350B51-251D-4178-BA76-260726C8C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12420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9616C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125" b="0">
                <a:solidFill>
                  <a:srgbClr val="59616C"/>
                </a:solidFill>
                <a:latin typeface="Alibaba PuHuiTi"/>
                <a:ea typeface="Alibaba PuHuiTi"/>
                <a:cs typeface="Alibaba PuHuiTi"/>
              </a:rPr>
              <a:t>anthropics</a:t>
            </a:r>
          </a:p>
        </p:txBody>
      </p:sp>
      <p:sp>
        <p:nvSpPr>
          <p:cNvPr id="12" name="project-2-tag">
            <a:extLst xmlns:a="http://schemas.openxmlformats.org/drawingml/2006/main">
              <a:ext uri="{FF2B5EF4-FFF2-40B4-BE49-F238E27FC236}">
                <a16:creationId xmlns:a16="http://schemas.microsoft.com/office/drawing/2014/main" id="{8F7BE65C-6419-4A64-A0E0-1F8470343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099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C85A3A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275" b="1">
                <a:solidFill>
                  <a:srgbClr val="C85A3A"/>
                </a:solidFill>
                <a:latin typeface="Alibaba PuHuiTi"/>
                <a:ea typeface="Alibaba PuHuiTi"/>
                <a:cs typeface="Alibaba PuHuiTi"/>
              </a:rPr>
              <a:t>官方 Skill 范本</a:t>
            </a:r>
          </a:p>
        </p:txBody>
      </p:sp>
      <p:sp>
        <p:nvSpPr>
          <p:cNvPr id="13" name="project-2-what">
            <a:extLst xmlns:a="http://schemas.openxmlformats.org/drawingml/2006/main">
              <a:ext uri="{FF2B5EF4-FFF2-40B4-BE49-F238E27FC236}">
                <a16:creationId xmlns:a16="http://schemas.microsoft.com/office/drawing/2014/main" id="{D4D5CE10-8D6F-4A53-9EA0-E62A6CBD5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76225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650" b="0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rPr>
              <a:t>它给出公开的 Agent Skills 样例。每项能力都是一个包含说明、脚本和资源的文件夹。</a:t>
            </a:r>
          </a:p>
        </p:txBody>
      </p:sp>
      <p:sp>
        <p:nvSpPr>
          <p:cNvPr id="14" name="project-2-use">
            <a:extLst xmlns:a="http://schemas.openxmlformats.org/drawingml/2006/main">
              <a:ext uri="{FF2B5EF4-FFF2-40B4-BE49-F238E27FC236}">
                <a16:creationId xmlns:a16="http://schemas.microsoft.com/office/drawing/2014/main" id="{AB41FFD8-7AEB-4CDB-8756-EC2A1425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34327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C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425" b="0">
                <a:solidFill>
                  <a:srgbClr val="59616C"/>
                </a:solidFill>
                <a:latin typeface="Alibaba PuHuiTi"/>
                <a:ea typeface="Alibaba PuHuiTi"/>
                <a:cs typeface="Alibaba PuHuiTi"/>
              </a:rPr>
              <a:t>这里最有价值的是文件结构：agent 知道先读什么、再执行什么。</a:t>
            </a:r>
          </a:p>
        </p:txBody>
      </p:sp>
      <p:sp>
        <p:nvSpPr>
          <p:cNvPr id="15" name="rule">
            <a:extLst xmlns:a="http://schemas.openxmlformats.org/drawingml/2006/main">
              <a:ext uri="{FF2B5EF4-FFF2-40B4-BE49-F238E27FC236}">
                <a16:creationId xmlns:a16="http://schemas.microsoft.com/office/drawing/2014/main" id="{C201408F-07AD-4E0D-B863-364BFA08F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67150"/>
            <a:ext cx="10991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9"/>
          </a:solidFill>
          <a:ln xmlns:a="http://schemas.openxmlformats.org/drawingml/2006/main" w="0">
            <a:solidFill>
              <a:srgbClr val="E4E6E9"/>
            </a:solidFill>
            <a:prstDash val="solid"/>
          </a:ln>
        </p:spPr>
      </p:sp>
      <p:sp>
        <p:nvSpPr>
          <p:cNvPr id="16" name="project-3-name">
            <a:extLst xmlns:a="http://schemas.openxmlformats.org/drawingml/2006/main">
              <a:ext uri="{FF2B5EF4-FFF2-40B4-BE49-F238E27FC236}">
                <a16:creationId xmlns:a16="http://schemas.microsoft.com/office/drawing/2014/main" id="{E9D6475B-4BE5-4739-9F17-E21B8A71D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481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875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rPr>
              <a:t>superpowers</a:t>
            </a:r>
          </a:p>
        </p:txBody>
      </p:sp>
      <p:sp>
        <p:nvSpPr>
          <p:cNvPr id="17" name="project-3-owner">
            <a:extLst xmlns:a="http://schemas.openxmlformats.org/drawingml/2006/main">
              <a:ext uri="{FF2B5EF4-FFF2-40B4-BE49-F238E27FC236}">
                <a16:creationId xmlns:a16="http://schemas.microsoft.com/office/drawing/2014/main" id="{C9DF0D37-CAF8-428F-81B2-30025433C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910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9616C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125" b="0">
                <a:solidFill>
                  <a:srgbClr val="59616C"/>
                </a:solidFill>
                <a:latin typeface="Alibaba PuHuiTi"/>
                <a:ea typeface="Alibaba PuHuiTi"/>
                <a:cs typeface="Alibaba PuHuiTi"/>
              </a:rPr>
              <a:t>obra</a:t>
            </a:r>
          </a:p>
        </p:txBody>
      </p:sp>
      <p:sp>
        <p:nvSpPr>
          <p:cNvPr id="18" name="project-3-tag">
            <a:extLst xmlns:a="http://schemas.openxmlformats.org/drawingml/2006/main">
              <a:ext uri="{FF2B5EF4-FFF2-40B4-BE49-F238E27FC236}">
                <a16:creationId xmlns:a16="http://schemas.microsoft.com/office/drawing/2014/main" id="{628BE803-0317-4DB5-8A13-A6E613CC1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67677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C85A3A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275" b="1">
                <a:solidFill>
                  <a:srgbClr val="C85A3A"/>
                </a:solidFill>
                <a:latin typeface="Alibaba PuHuiTi"/>
                <a:ea typeface="Alibaba PuHuiTi"/>
                <a:cs typeface="Alibaba PuHuiTi"/>
              </a:rPr>
              <a:t>开发方法</a:t>
            </a:r>
          </a:p>
        </p:txBody>
      </p:sp>
      <p:sp>
        <p:nvSpPr>
          <p:cNvPr id="19" name="project-3-what">
            <a:extLst xmlns:a="http://schemas.openxmlformats.org/drawingml/2006/main">
              <a:ext uri="{FF2B5EF4-FFF2-40B4-BE49-F238E27FC236}">
                <a16:creationId xmlns:a16="http://schemas.microsoft.com/office/drawing/2014/main" id="{E8B99FF9-646E-446C-B64A-D095FB9D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29075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650" b="0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rPr>
              <a:t>它把需求澄清、写计划、TDD 和代码评审整理成会自动触发的 skills。</a:t>
            </a:r>
          </a:p>
        </p:txBody>
      </p:sp>
      <p:sp>
        <p:nvSpPr>
          <p:cNvPr id="20" name="project-3-use">
            <a:extLst xmlns:a="http://schemas.openxmlformats.org/drawingml/2006/main">
              <a:ext uri="{FF2B5EF4-FFF2-40B4-BE49-F238E27FC236}">
                <a16:creationId xmlns:a16="http://schemas.microsoft.com/office/drawing/2014/main" id="{B3656646-2D03-42F7-83C5-E19083CC0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610100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C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425" b="0">
                <a:solidFill>
                  <a:srgbClr val="59616C"/>
                </a:solidFill>
                <a:latin typeface="Alibaba PuHuiTi"/>
                <a:ea typeface="Alibaba PuHuiTi"/>
                <a:cs typeface="Alibaba PuHuiTi"/>
              </a:rPr>
              <a:t>仓库交付的不是代码片段，而是一套 coding agent 的工作纪律。</a:t>
            </a:r>
          </a:p>
        </p:txBody>
      </p:sp>
      <p:sp>
        <p:nvSpPr>
          <p:cNvPr id="21" name="rule">
            <a:extLst xmlns:a="http://schemas.openxmlformats.org/drawingml/2006/main">
              <a:ext uri="{FF2B5EF4-FFF2-40B4-BE49-F238E27FC236}">
                <a16:creationId xmlns:a16="http://schemas.microsoft.com/office/drawing/2014/main" id="{01CF425F-0125-4398-BDCA-863D41C8D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133975"/>
            <a:ext cx="109918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9"/>
          </a:solidFill>
          <a:ln xmlns:a="http://schemas.openxmlformats.org/drawingml/2006/main" w="0">
            <a:solidFill>
              <a:srgbClr val="E4E6E9"/>
            </a:solidFill>
            <a:prstDash val="solid"/>
          </a:ln>
        </p:spPr>
      </p:sp>
      <p:sp>
        <p:nvSpPr>
          <p:cNvPr id="22" name="project-4-name">
            <a:extLst xmlns:a="http://schemas.openxmlformats.org/drawingml/2006/main">
              <a:ext uri="{FF2B5EF4-FFF2-40B4-BE49-F238E27FC236}">
                <a16:creationId xmlns:a16="http://schemas.microsoft.com/office/drawing/2014/main" id="{2FFA7D95-A537-44E3-918E-DCC7F9D54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31495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875" b="1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rPr>
              <a:t>spec-kit</a:t>
            </a:r>
          </a:p>
        </p:txBody>
      </p:sp>
      <p:sp>
        <p:nvSpPr>
          <p:cNvPr id="23" name="project-4-owner">
            <a:extLst xmlns:a="http://schemas.openxmlformats.org/drawingml/2006/main">
              <a:ext uri="{FF2B5EF4-FFF2-40B4-BE49-F238E27FC236}">
                <a16:creationId xmlns:a16="http://schemas.microsoft.com/office/drawing/2014/main" id="{10B952D5-843A-4813-BF2A-E4D63C8A6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57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9616C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125" b="0">
                <a:solidFill>
                  <a:srgbClr val="59616C"/>
                </a:solidFill>
                <a:latin typeface="Alibaba PuHuiTi"/>
                <a:ea typeface="Alibaba PuHuiTi"/>
                <a:cs typeface="Alibaba PuHuiTi"/>
              </a:rPr>
              <a:t>github</a:t>
            </a:r>
          </a:p>
        </p:txBody>
      </p:sp>
      <p:sp>
        <p:nvSpPr>
          <p:cNvPr id="24" name="project-4-tag">
            <a:extLst xmlns:a="http://schemas.openxmlformats.org/drawingml/2006/main">
              <a:ext uri="{FF2B5EF4-FFF2-40B4-BE49-F238E27FC236}">
                <a16:creationId xmlns:a16="http://schemas.microsoft.com/office/drawing/2014/main" id="{79538E79-85FB-4823-843E-F76C9DDB3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4360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C85A3A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275" b="1">
                <a:solidFill>
                  <a:srgbClr val="C85A3A"/>
                </a:solidFill>
                <a:latin typeface="Alibaba PuHuiTi"/>
                <a:ea typeface="Alibaba PuHuiTi"/>
                <a:cs typeface="Alibaba PuHuiTi"/>
              </a:rPr>
              <a:t>规格驱动开发</a:t>
            </a:r>
          </a:p>
        </p:txBody>
      </p:sp>
      <p:sp>
        <p:nvSpPr>
          <p:cNvPr id="25" name="project-4-what">
            <a:extLst xmlns:a="http://schemas.openxmlformats.org/drawingml/2006/main">
              <a:ext uri="{FF2B5EF4-FFF2-40B4-BE49-F238E27FC236}">
                <a16:creationId xmlns:a16="http://schemas.microsoft.com/office/drawing/2014/main" id="{D8FE0D21-CE8F-410F-9541-1E85BEEF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95900"/>
            <a:ext cx="752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650" b="0">
                <a:solidFill>
                  <a:srgbClr val="101216"/>
                </a:solidFill>
                <a:latin typeface="Alibaba PuHuiTi"/>
                <a:ea typeface="Alibaba PuHuiTi"/>
                <a:cs typeface="Alibaba PuHuiTi"/>
              </a:rPr>
              <a:t>它先保存规格、计划和验收条件，再让 agent 开始写代码。</a:t>
            </a:r>
          </a:p>
        </p:txBody>
      </p:sp>
      <p:sp>
        <p:nvSpPr>
          <p:cNvPr id="26" name="project-4-use">
            <a:extLst xmlns:a="http://schemas.openxmlformats.org/drawingml/2006/main">
              <a:ext uri="{FF2B5EF4-FFF2-40B4-BE49-F238E27FC236}">
                <a16:creationId xmlns:a16="http://schemas.microsoft.com/office/drawing/2014/main" id="{0A626CF9-E30B-401A-8D83-B190F4D8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76925"/>
            <a:ext cx="752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9616C"/>
                </a:solidFill>
                <a:latin typeface="Alibaba PuHuiTi"/>
                <a:ea typeface="Alibaba PuHuiTi"/>
                <a:cs typeface="Alibaba PuHuiTi"/>
              </a:defRPr>
            </a:pPr>
            <a:r>
              <a:rPr sz="1425" b="0">
                <a:solidFill>
                  <a:srgbClr val="59616C"/>
                </a:solidFill>
                <a:latin typeface="Alibaba PuHuiTi"/>
                <a:ea typeface="Alibaba PuHuiTi"/>
                <a:cs typeface="Alibaba PuHuiTi"/>
              </a:rPr>
              <a:t>代码可以快速重写，真正需要长期保留的是意图和判断标准。</a:t>
            </a:r>
          </a:p>
        </p:txBody>
      </p:sp>
    </p:spTree>
    <p:extLst>
      <p:ext uri="{BB962C8B-B14F-4D97-AF65-F5344CB8AC3E}">
        <p14:creationId xmlns:p14="http://schemas.microsoft.com/office/powerpoint/2010/main" val="20407016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libaba PuHuiTi"/>
        <a:ea typeface="Alibaba PuHuiTi"/>
        <a:cs typeface="Alibaba PuHuiTi"/>
      </a:majorFont>
      <a:minorFont>
        <a:latin typeface="Alibaba PuHuiTi"/>
        <a:ea typeface="Alibaba PuHuiTi"/>
        <a:cs typeface="Alibaba PuHuiT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2026-07-31T09:48:22.6400000Z</dcterms:created>
  <dcterms:modified xsi:type="dcterms:W3CDTF">2026-07-31T09:48:22.6400000Z</dcterms:modified>
</coreProperties>
</file>