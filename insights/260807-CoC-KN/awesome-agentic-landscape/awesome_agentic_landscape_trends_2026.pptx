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39d6b4bed6426b" /><Relationship Type="http://schemas.openxmlformats.org/officeDocument/2006/relationships/extended-properties" Target="/docProps/app.xml" Id="R1b0991510c634433" /><Relationship Type="http://schemas.openxmlformats.org/officeDocument/2006/relationships/officeDocument" Target="/ppt/presentation.xml" Id="R2442abb7aaac46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879d0b7774ae1"/>
  </p:sldMasterIdLst>
  <p:notesMasterIdLst>
    <p:notesMasterId xmlns:r="http://schemas.openxmlformats.org/officeDocument/2006/relationships" r:id="Rdb236a21377d4401"/>
  </p:notesMasterIdLst>
  <p:sldIdLst>
    <p:sldId xmlns:r="http://schemas.openxmlformats.org/officeDocument/2006/relationships" id="256" r:id="Rd984f95b74694c6a"/>
    <p:sldId xmlns:r="http://schemas.openxmlformats.org/officeDocument/2006/relationships" id="257" r:id="R2482fa5cf37d4101"/>
    <p:sldId xmlns:r="http://schemas.openxmlformats.org/officeDocument/2006/relationships" id="258" r:id="R5afa2fc6705748f5"/>
    <p:sldId xmlns:r="http://schemas.openxmlformats.org/officeDocument/2006/relationships" id="259" r:id="Ra3574670d9de428d"/>
    <p:sldId xmlns:r="http://schemas.openxmlformats.org/officeDocument/2006/relationships" id="260" r:id="R33dc2125eaf04652"/>
    <p:sldId xmlns:r="http://schemas.openxmlformats.org/officeDocument/2006/relationships" id="261" r:id="R1abcc35a576d4d10"/>
    <p:sldId xmlns:r="http://schemas.openxmlformats.org/officeDocument/2006/relationships" id="262" r:id="Rf90df94271db49ac"/>
    <p:sldId xmlns:r="http://schemas.openxmlformats.org/officeDocument/2006/relationships" id="263" r:id="R91baa4c66d3a494c"/>
    <p:sldId xmlns:r="http://schemas.openxmlformats.org/officeDocument/2006/relationships" id="264" r:id="R4abc87d24af049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a1d944938043f3" /><Relationship Type="http://schemas.openxmlformats.org/officeDocument/2006/relationships/slideMaster" Target="/ppt/slideMasters/slideMaster1.xml" Id="Rd5c879d0b7774ae1" /><Relationship Type="http://schemas.openxmlformats.org/officeDocument/2006/relationships/notesMaster" Target="/ppt/notesMasters/notesMaster1.xml" Id="Rdb236a21377d4401" /><Relationship Type="http://schemas.openxmlformats.org/officeDocument/2006/relationships/presProps" Target="/ppt/presProps.xml" Id="R0fd4bdc9f5d044d6" /><Relationship Type="http://schemas.openxmlformats.org/officeDocument/2006/relationships/tableStyles" Target="/ppt/tableStyles.xml" Id="Rbfdfcde6c69c44f3" /><Relationship Type="http://schemas.openxmlformats.org/officeDocument/2006/relationships/slide" Target="/ppt/slides/slide1.xml" Id="Rd984f95b74694c6a" /><Relationship Type="http://schemas.openxmlformats.org/officeDocument/2006/relationships/slide" Target="/ppt/slides/slide2.xml" Id="R2482fa5cf37d4101" /><Relationship Type="http://schemas.openxmlformats.org/officeDocument/2006/relationships/slide" Target="/ppt/slides/slide3.xml" Id="R5afa2fc6705748f5" /><Relationship Type="http://schemas.openxmlformats.org/officeDocument/2006/relationships/slide" Target="/ppt/slides/slide4.xml" Id="Ra3574670d9de428d" /><Relationship Type="http://schemas.openxmlformats.org/officeDocument/2006/relationships/slide" Target="/ppt/slides/slide5.xml" Id="R33dc2125eaf04652" /><Relationship Type="http://schemas.openxmlformats.org/officeDocument/2006/relationships/slide" Target="/ppt/slides/slide6.xml" Id="R1abcc35a576d4d10" /><Relationship Type="http://schemas.openxmlformats.org/officeDocument/2006/relationships/slide" Target="/ppt/slides/slide7.xml" Id="Rf90df94271db49ac" /><Relationship Type="http://schemas.openxmlformats.org/officeDocument/2006/relationships/slide" Target="/ppt/slides/slide8.xml" Id="R91baa4c66d3a494c" /><Relationship Type="http://schemas.openxmlformats.org/officeDocument/2006/relationships/slide" Target="/ppt/slides/slide9.xml" Id="R4abc87d24af049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2108d2df704f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68b0c2e7554309" /><Relationship Type="http://schemas.openxmlformats.org/officeDocument/2006/relationships/notesMaster" Target="/ppt/notesMasters/notesMaster1.xml" Id="Rf5e03a01dad942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1205e202c6440c" /><Relationship Type="http://schemas.openxmlformats.org/officeDocument/2006/relationships/notesMaster" Target="/ppt/notesMasters/notesMaster1.xml" Id="Rfcb6cd93ffb743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0359879367481c" /><Relationship Type="http://schemas.openxmlformats.org/officeDocument/2006/relationships/notesMaster" Target="/ppt/notesMasters/notesMaster1.xml" Id="R59dedc9dac1d4e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a1c9eb0e3d42c7" /><Relationship Type="http://schemas.openxmlformats.org/officeDocument/2006/relationships/notesMaster" Target="/ppt/notesMasters/notesMaster1.xml" Id="Rdf2d70f6f08843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bf41c689ba480c" /><Relationship Type="http://schemas.openxmlformats.org/officeDocument/2006/relationships/notesMaster" Target="/ppt/notesMasters/notesMaster1.xml" Id="R3dbd751f6c984b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58fae8769b4096" /><Relationship Type="http://schemas.openxmlformats.org/officeDocument/2006/relationships/notesMaster" Target="/ppt/notesMasters/notesMaster1.xml" Id="Rd82b74a765fb49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37efd9ee6d4cbe" /><Relationship Type="http://schemas.openxmlformats.org/officeDocument/2006/relationships/notesMaster" Target="/ppt/notesMasters/notesMaster1.xml" Id="R82fb5b2c2e5546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37240cffe249cf" /><Relationship Type="http://schemas.openxmlformats.org/officeDocument/2006/relationships/notesMaster" Target="/ppt/notesMasters/notesMaster1.xml" Id="R45fa422896c747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e8577b8d35430b" /><Relationship Type="http://schemas.openxmlformats.org/officeDocument/2006/relationships/notesMaster" Target="/ppt/notesMasters/notesMaster1.xml" Id="Re7978e2507b64d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开场可以先抛出这个观察：代码生成越来越便宜，但让 agent 按正确顺序做事、遵守团队习惯，仍然很贵。我们去看 awesome 仓库，是因为它们正在记录这种稀缺知识。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outputs/awesome-agentic-landscape-260729/data/awesome_agentic_candidates.csv</a:t>
            </a:r>
          </a:p>
          <a:p xmlns:a="http://schemas.openxmlformats.org/drawingml/2006/main">
            <a:r>
              <a:t>- Local artifact: outputs/awesome-agentic-landscape-260729/landscape/awesome_agentic_landscape_2026.png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不要逐个念项目。先解释横向逻辑：左边仍然是给人读的地图；越往右，内容越接近 agent 可以直接加载和执行的形态。Core、Watch 和历史参照只是编辑角色，不是质量评级。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artifact: outputs/awesome-agentic-landscape-260729/landscape/awesome_agentic_landscape_2026.png</a:t>
            </a:r>
          </a:p>
          <a:p xmlns:a="http://schemas.openxmlformats.org/drawingml/2006/main">
            <a:r>
              <a:t>- Local data: outputs/awesome-agentic-landscape-260729/landscape/awesome_agentic_landscape_projects.csv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这里最值得讲的是 19/24。入选项目里，绝大多数已经不是纯阅读材料，而是文件、目录、命令或方法，可以直接进入 agent 工作流。22/24 创建于 2025 年以后，也说明这个形态非常新。注意：这是编辑样本，只能用来描述我们观察到的模式。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outputs/awesome-agentic-landscape-260729/data/editorial_shortlist.csv</a:t>
            </a:r>
          </a:p>
          <a:p xmlns:a="http://schemas.openxmlformats.org/drawingml/2006/main">
            <a:r>
              <a:t>- Local validation: outputs/awesome-agentic-landscape-260729/data/validation_report.json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这四列不是成熟度阶梯。它们描述的是消费方式：谁来读、怎样拿走、能不能安装，以及能不能约束 agent 的工作过程。一个项目也可能跨两列，我们放在最能说明故事的位置。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outputs/awesome-agentic-landscape-260729/landscape/awesome_agentic_landscape_projects.csv</a:t>
            </a:r>
          </a:p>
          <a:p xmlns:a="http://schemas.openxmlformats.org/drawingml/2006/main">
            <a:r>
              <a:t>- Local methodology: outputs/awesome-agentic-landscape-260729/analysis/render_awesome_agentic_landscape.py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这个项目很像 npm 早期给 JavaScript 带来的变化：它给 skill 目录增加了解析、安装、更新和运行的语义。README 还展示了不落盘的 skills use。列表不再等人来摘，它已经知道怎样进入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https://github.com/vercel-labs/skills</a:t>
            </a:r>
          </a:p>
          <a:p xmlns:a="http://schemas.openxmlformats.org/drawingml/2006/main">
            <a:r>
              <a:t>- Local metrics: outputs/awesome-agentic-landscape-260729/data/editorial_shortlist.csv</a:t>
            </a:r>
          </a:p>
          <a:p xmlns:a="http://schemas.openxmlformats.org/drawingml/2006/main">
            <a:r>
              <a:t>- Image: https://opengraph.githubassets.com/1/vercel-labs/skills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这两个项目很有画面感。左边把一个品牌的视觉规则压成 DESIGN.md，agent 放进项目就能读。右边更进一步：网站展示的 470 多个案例，和 agent skill 读取的是同一份 style-library 数据。过去的 prompt gallery 是给人找灵感；现在它开始维护一个可安装的知识包。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https://github.com/VoltAgent/awesome-design-md</a:t>
            </a:r>
          </a:p>
          <a:p xmlns:a="http://schemas.openxmlformats.org/drawingml/2006/main">
            <a:r>
              <a:t>- https://github.com/freestylefly/awesome-gpt-image-2</a:t>
            </a:r>
          </a:p>
          <a:p xmlns:a="http://schemas.openxmlformats.org/drawingml/2006/main">
            <a:r>
              <a:t>- Images: GitHub OpenGraph cards for both repositories</a:t>
            </a:r>
          </a:p>
          <a:p xmlns:a="http://schemas.openxmlformats.org/drawingml/2006/main">
            <a:r>
              <a:t>- Local metrics: outputs/awesome-agentic-landscape-260729/data/editorial_shortlist.csv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Superpowers 的故事不是又收集了一堆 prompt。它把完整的软件开发方法拆成可触发的 skills：brainstorming、writing plans、TDD、subagent development、code review。为了让 agent 跑得更远，它先给 agent 铺了一条轨道。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https://github.com/obra/superpowers</a:t>
            </a:r>
          </a:p>
          <a:p xmlns:a="http://schemas.openxmlformats.org/drawingml/2006/main">
            <a:r>
              <a:t>- https://github.com/obra/superpowers/blob/main/.codex-plugin/plugin.json</a:t>
            </a:r>
          </a:p>
          <a:p xmlns:a="http://schemas.openxmlformats.org/drawingml/2006/main">
            <a:r>
              <a:t>- Image: https://opengraph.githubassets.com/1/obra/superpowers</a:t>
            </a:r>
          </a:p>
          <a:p xmlns:a="http://schemas.openxmlformats.org/drawingml/2006/main">
            <a:r>
              <a:t>- Local metrics: outputs/awesome-agentic-landscape-260729/data/editorial_shortlist.csv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这一页不要讲成厂商排名。它说明格式正在收敛。Anthropic 把 skill 定义成动态加载的 instructions、scripts 和 resources；OpenAI 直接写了 write once, use everywhere；Google 让产品知识通过 npx skills add 被选择和安装。文档正在获得包管理和运行时语义。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https://github.com/openai/skills</a:t>
            </a:r>
          </a:p>
          <a:p xmlns:a="http://schemas.openxmlformats.org/drawingml/2006/main">
            <a:r>
              <a:t>- https://github.com/google/skills</a:t>
            </a:r>
          </a:p>
          <a:p xmlns:a="http://schemas.openxmlformats.org/drawingml/2006/main">
            <a:r>
              <a:t>- Local metrics: outputs/awesome-agentic-landscape-260729/data/editorial_shortlist.csv</a:t>
            </a:r>
          </a:p>
          <a:p xmlns:a="http://schemas.openxmlformats.org/drawingml/2006/main">
            <a:r>
              <a:t>- Images: GitHub organization avatars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最后把问题留在测量上。Stars 适合发现趋势，但如果 awesome 已经接近代码，我们就该像观察依赖包一样观察它：被谁安装、在哪些 agent 中被调用、更新如何传播、出了问题怎样追溯。这个方向会让下一轮研究更有独特性。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synthesis: outputs/awesome-agentic-landscape-260729/data/editorial_shortlist.csv</a:t>
            </a:r>
          </a:p>
          <a:p xmlns:a="http://schemas.openxmlformats.org/drawingml/2006/main">
            <a:r>
              <a:t>- Local methodology: outputs/awesome-agentic-landscape-260729/analysis/scan_awesome_agentic_projects.py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0e9415af640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2d320e5f0742b8" /><Relationship Type="http://schemas.openxmlformats.org/officeDocument/2006/relationships/slideLayout" Target="/ppt/slideLayouts/slideLayout1.xml" Id="R73ad81221d9042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d81221d9042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"/>
          <a:ea typeface="Alibaba PuHuiTi"/>
          <a:cs typeface="Alibaba PuHuiT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ac11563fc47d6" /><Relationship Type="http://schemas.openxmlformats.org/officeDocument/2006/relationships/notesSlide" Target="/ppt/notesSlides/notesSlide1.xml" Id="R4a0c18d98355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063839faf4a3e" /><Relationship Type="http://schemas.openxmlformats.org/officeDocument/2006/relationships/image" Target="/ppt/media/image.png" Id="R8961fb5cd968422a" /><Relationship Type="http://schemas.openxmlformats.org/officeDocument/2006/relationships/notesSlide" Target="/ppt/notesSlides/notesSlide2.xml" Id="Rdf303ada0c4948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73ff19998434a" /><Relationship Type="http://schemas.openxmlformats.org/officeDocument/2006/relationships/notesSlide" Target="/ppt/notesSlides/notesSlide3.xml" Id="R76203fb54cf94a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d1b3529af4621" /><Relationship Type="http://schemas.openxmlformats.org/officeDocument/2006/relationships/notesSlide" Target="/ppt/notesSlides/notesSlide4.xml" Id="Rd7acde6309dd46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685bae2014f64" /><Relationship Type="http://schemas.openxmlformats.org/officeDocument/2006/relationships/image" Target="/ppt/media/image2.png" Id="R879ffb313cff4ba9" /><Relationship Type="http://schemas.openxmlformats.org/officeDocument/2006/relationships/notesSlide" Target="/ppt/notesSlides/notesSlide5.xml" Id="R744a1e56042e4e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f78bbe3754378" /><Relationship Type="http://schemas.openxmlformats.org/officeDocument/2006/relationships/image" Target="/ppt/media/image3.png" Id="R1ceccd2dcba94454" /><Relationship Type="http://schemas.openxmlformats.org/officeDocument/2006/relationships/image" Target="/ppt/media/image4.png" Id="Rcb35b0a390ff44e9" /><Relationship Type="http://schemas.openxmlformats.org/officeDocument/2006/relationships/notesSlide" Target="/ppt/notesSlides/notesSlide6.xml" Id="R5ab408db31a142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d7a1f49b84d2e" /><Relationship Type="http://schemas.openxmlformats.org/officeDocument/2006/relationships/image" Target="/ppt/media/image5.png" Id="Rd6a4eecde5dd4ffe" /><Relationship Type="http://schemas.openxmlformats.org/officeDocument/2006/relationships/notesSlide" Target="/ppt/notesSlides/notesSlide7.xml" Id="Re83ce3126cf14a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0fc7312d34b35" /><Relationship Type="http://schemas.openxmlformats.org/officeDocument/2006/relationships/image" Target="/ppt/media/image6.png" Id="Rdadffc679d9c424a" /><Relationship Type="http://schemas.openxmlformats.org/officeDocument/2006/relationships/image" Target="/ppt/media/image7.png" Id="R1c0232a3aa904469" /><Relationship Type="http://schemas.openxmlformats.org/officeDocument/2006/relationships/image" Target="/ppt/media/image8.png" Id="R658db514efeb45c4" /><Relationship Type="http://schemas.openxmlformats.org/officeDocument/2006/relationships/notesSlide" Target="/ppt/notesSlides/notesSlide8.xml" Id="Re6b23c210e0e4b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9dda468304866" /><Relationship Type="http://schemas.openxmlformats.org/officeDocument/2006/relationships/notesSlide" Target="/ppt/notesSlides/notesSlide9.xml" Id="Rd4f4ff3d594841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73DD926B-AD52-49F0-811A-E9C665A4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0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57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当 README
开始被 agent 执行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42EE30D-8BCA-4B3A-9B0F-59A6EA46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7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Awesome × Agentic AI Landscape 2026
460 repositories scanned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916A6B7-74A0-4BC9-AAC1-16222C6A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1">
                <a:solidFill>
                  <a:srgbClr val="3D8DFF"/>
                </a:solidFill>
                <a:latin typeface="Alibaba PuHuiTi"/>
                <a:ea typeface="Alibaba PuHuiTi"/>
                <a:cs typeface="Alibaba PuHuiTi"/>
              </a:rPr>
              <a:t>OPEN-SOURCE SIGNALS / JULY 2026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B24DA04-EA2A-4062-9D97-19E8E3D9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11410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97220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6E473E7-43E5-4DB7-9D42-66123B74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0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14EDED5-58AA-4013-9DB6-FB474A7C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9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这张图画的，是知识靠近 agent 的方式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3679C54-8233-44BE-B550-4FAF3A74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868C87A-0CB7-4008-870E-FC228F0D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t/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1fb5cd968422a"/>
          <a:srcRect xmlns:a="http://schemas.openxmlformats.org/drawingml/2006/main" l="0" t="11120" r="0" b="11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1066800"/>
            <a:ext cx="11410950" cy="4991100"/>
          </a:xfrm>
          <a:prstGeom xmlns:a="http://schemas.openxmlformats.org/drawingml/2006/main" prst="rect">
            <a:avLst/>
          </a:prstGeom>
        </p:spPr>
      </p:pic>
      <p:sp>
        <p:nvSpPr>
          <p:cNvPr id="7" name="title-cleanup">
            <a:extLst xmlns:a="http://schemas.openxmlformats.org/drawingml/2006/main">
              <a:ext uri="{FF2B5EF4-FFF2-40B4-BE49-F238E27FC236}">
                <a16:creationId xmlns:a16="http://schemas.microsoft.com/office/drawing/2014/main" id="{EB2540C7-00FF-4C45-A35B-1166A02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landscape-title-overlay">
            <a:extLst xmlns:a="http://schemas.openxmlformats.org/drawingml/2006/main">
              <a:ext uri="{FF2B5EF4-FFF2-40B4-BE49-F238E27FC236}">
                <a16:creationId xmlns:a16="http://schemas.microsoft.com/office/drawing/2014/main" id="{FE206E0E-E8FE-4A53-82BC-7B8D74BF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925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这张图画的，是知识靠近 agent 的方式</a:t>
            </a:r>
          </a:p>
        </p:txBody>
      </p:sp>
    </p:spTree>
    <p:extLst>
      <p:ext uri="{BB962C8B-B14F-4D97-AF65-F5344CB8AC3E}">
        <p14:creationId xmlns:p14="http://schemas.microsoft.com/office/powerpoint/2010/main" val="10431287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9ECC778-8098-4E96-93E9-9508969F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DE1698F-AD07-43B6-BC00-4887CDEF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9FB6CBB-D6CC-4B74-B2C7-A4AE2B20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81095E2F-5AE9-4978-B056-0AAB88A9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0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3B3DB3E5-B516-4E11-878D-F5CCC14C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9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真正有故事的项目，大多已经靠近 agent 运行时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4646F11-FF5C-480B-824E-4E1049B9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进入首轮 landscape
另有 2 个历史参照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D71E609-92AC-4464-85F0-48C00AAE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创建于 2025 年以后
约 92%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FE7CA1A-D3E9-4E16-A6CB-0C9F9A39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可直接交给 agent
约 79%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6880217-236B-4818-9F95-DEA8D3B9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42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24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93CA99D-3808-471D-B6B4-B035042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4200" b="1">
                <a:solidFill>
                  <a:srgbClr val="3D8DFF"/>
                </a:solidFill>
                <a:latin typeface="Alibaba PuHuiTi"/>
                <a:ea typeface="Alibaba PuHuiTi"/>
                <a:cs typeface="Alibaba PuHuiTi"/>
              </a:rPr>
              <a:t>19 / 24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AC94B31-5E03-4E65-868B-50E6885F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42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22 / 24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6D8F441-987D-414D-A444-8C7DDCF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这是一份编辑样本，不是市场份额统计。它说明我们在 460 个候选里看到了什么。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近三个月的活动信号负责发现项目；最终入选还要看内容能否被 agent 直接消费，以及它是否代表一种新的策展形态。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AF97CF86-F756-4DBD-B6A5-7EC195E7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76550"/>
            <a:ext cx="1141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A3FAA82-7F64-47BA-AFE3-E606E881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9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Snapshot 2026-07-29 · WatchEvents/participants: May 1–Jul 28 · OpenRank: Apr–Jun 2026</a:t>
            </a:r>
          </a:p>
        </p:txBody>
      </p:sp>
    </p:spTree>
    <p:extLst>
      <p:ext uri="{BB962C8B-B14F-4D97-AF65-F5344CB8AC3E}">
        <p14:creationId xmlns:p14="http://schemas.microsoft.com/office/powerpoint/2010/main" val="9925596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DC7AB83-E49D-4C79-9CA9-984E122A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0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C840A4C-0DD0-40F9-9ED2-6272A29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9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“Awesome”正在长出四种消费方式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EA59718-0C86-4D85-B84E-730B8889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00" b="1">
                <a:solidFill>
                  <a:srgbClr val="8A245F"/>
                </a:solidFill>
                <a:latin typeface="Alibaba PuHuiTi"/>
                <a:ea typeface="Alibaba PuHuiTi"/>
                <a:cs typeface="Alibaba PuHuiTi"/>
              </a:rPr>
              <a:t>01  DISCOVER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人来阅读、浏览、比较。
代表：经典 awesome 列表、生态地图。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228AB4E-8466-40AC-B273-69342273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00" b="1">
                <a:solidFill>
                  <a:srgbClr val="70408C"/>
                </a:solidFill>
                <a:latin typeface="Alibaba PuHuiTi"/>
                <a:ea typeface="Alibaba PuHuiTi"/>
                <a:cs typeface="Alibaba PuHuiTi"/>
              </a:rPr>
              <a:t>02  REUSE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复制一份资产，再让 agent 使用。
代表：prompt、DESIGN.md、工作流模板。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FEC784B-E928-42B6-81D5-3237BE7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00" b="1">
                <a:solidFill>
                  <a:srgbClr val="285D9E"/>
                </a:solidFill>
                <a:latin typeface="Alibaba PuHuiTi"/>
                <a:ea typeface="Alibaba PuHuiTi"/>
                <a:cs typeface="Alibaba PuHuiTi"/>
              </a:rPr>
              <a:t>03  INSTALL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目录带有解析和安装语义。
代表：skills、plugins、跨 agent catalog。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C07D22D-94D4-4F11-BCD7-2862956B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00" b="1">
                <a:solidFill>
                  <a:srgbClr val="257653"/>
                </a:solidFill>
                <a:latin typeface="Alibaba PuHuiTi"/>
                <a:ea typeface="Alibaba PuHuiTi"/>
                <a:cs typeface="Alibaba PuHuiTi"/>
              </a:rPr>
              <a:t>04  OPERATE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内容开始规定 agent 如何计划、评审和收尾。
代表：spec、TDD、角色与工程方法。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2C2B5C2-25BE-4878-B833-70C88286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89547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A7CE"/>
          </a:solidFill>
          <a:ln xmlns:a="http://schemas.openxmlformats.org/drawingml/2006/main" w="0">
            <a:solidFill>
              <a:srgbClr val="EAA7CE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54057B6-BF61-4E30-9073-48BEE9BB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9547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A8E8"/>
          </a:solidFill>
          <a:ln xmlns:a="http://schemas.openxmlformats.org/drawingml/2006/main" w="0">
            <a:solidFill>
              <a:srgbClr val="CFA8E8"/>
            </a:solidFill>
            <a:prstDash val="solid"/>
          </a:ln>
        </p:spPr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EE47A22-281C-4150-9623-39B7C53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862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DEB"/>
          </a:solidFill>
          <a:ln xmlns:a="http://schemas.openxmlformats.org/drawingml/2006/main" w="0">
            <a:solidFill>
              <a:srgbClr val="9EBDEB"/>
            </a:solidFill>
            <a:prstDash val="solid"/>
          </a:ln>
        </p:spPr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D7204FD-C579-4370-B8E8-4F3DCBD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5BD"/>
          </a:solidFill>
          <a:ln xmlns:a="http://schemas.openxmlformats.org/drawingml/2006/main" w="0">
            <a:solidFill>
              <a:srgbClr val="98D5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41959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BDA6118-9E07-45D0-8CF7-0CD8D85A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0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3BCB26C-DA7F-476F-87A2-8CBA394E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9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这个列表学会了安装自己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E6889997-E31C-40E6-87F9-CFE7D542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C931859-B492-4DD1-94FD-5DA2A8C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025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vercel-labs/skills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过去，我们打开 awesome 列表，点链接，再把东西搬进自己的项目。
这里，一条命令完成发现、选择和安装。目录第一次带上了“执行语义”。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ffb313cff4b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162050"/>
            <a:ext cx="5543550" cy="2771775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7" name="install-command">
            <a:extLst xmlns:a="http://schemas.openxmlformats.org/drawingml/2006/main">
              <a:ext uri="{FF2B5EF4-FFF2-40B4-BE49-F238E27FC236}">
                <a16:creationId xmlns:a16="http://schemas.microsoft.com/office/drawing/2014/main" id="{DC4A6ED7-9638-4BDC-8042-2EBDAE2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4933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npx skills add vercel-labs/agent-skills</a:t>
            </a:r>
          </a:p>
        </p:txBody>
      </p:sp>
      <p:sp>
        <p:nvSpPr>
          <p:cNvPr id="8" name="use-command-explainer">
            <a:extLst xmlns:a="http://schemas.openxmlformats.org/drawingml/2006/main">
              <a:ext uri="{FF2B5EF4-FFF2-40B4-BE49-F238E27FC236}">
                <a16:creationId xmlns:a16="http://schemas.microsoft.com/office/drawing/2014/main" id="{3995936C-A63D-4A08-9450-5FD7179F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819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也可以不安装：skills use 会生成 prompt，直接启动一个受支持的 coding agent。</a:t>
            </a:r>
          </a:p>
        </p:txBody>
      </p:sp>
    </p:spTree>
    <p:extLst>
      <p:ext uri="{BB962C8B-B14F-4D97-AF65-F5344CB8AC3E}">
        <p14:creationId xmlns:p14="http://schemas.microsoft.com/office/powerpoint/2010/main" val="1876680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9372875-7930-431A-984E-02D9EBE6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0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E5C2A71-918C-4319-B383-FE508D65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9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专业手艺开始被压进一份 Markdown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7A6B82E-29B6-4DCA-95AC-2C0F27DE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D584797-36BA-49C5-8334-49CA594A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DESIGN.md
“build me a page that looks like this”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E9718ED-E75B-4D39-8008-A0B9486C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复制一个 DESIGN.md 到项目根目录。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颜色、排版、组件和禁区都写进去。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agent 读的不是链接，而是一套视觉语言。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C1C39A2F-E4AA-4137-A09A-800ACCEA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66E1A5A-3A76-4922-A92D-0E4C583A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style-library.json
→ website + Agent Skill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173EDB3-EA90-4E5A-9848-63CE0A83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470+ 案例和 20+ 模板共用一份 style library。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同一份数据同时驱动网站和 agent skill。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Prompt gallery 开始像软件包一样分发。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C52F29C-F0AC-481E-848A-70A8C81C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t/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ccd2dcba94454"/>
          <a:srcRect xmlns:a="http://schemas.openxmlformats.org/drawingml/2006/main" l="0" t="18675" r="0" b="18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304925"/>
            <a:ext cx="5534025" cy="1733550"/>
          </a:xfrm>
          <a:prstGeom xmlns:a="http://schemas.openxmlformats.org/drawingml/2006/main" prst="roundRect">
            <a:avLst>
              <a:gd name="adj" fmla="val 6593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5b0a390ff44e9"/>
          <a:srcRect xmlns:a="http://schemas.openxmlformats.org/drawingml/2006/main" l="0" t="18675" r="0" b="18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7925" y="1304925"/>
            <a:ext cx="5534025" cy="1733550"/>
          </a:xfrm>
          <a:prstGeom xmlns:a="http://schemas.openxmlformats.org/drawingml/2006/main" prst="roundRect">
            <a:avLst>
              <a:gd name="adj" fmla="val 6593"/>
            </a:avLst>
          </a:prstGeom>
        </p:spPr>
      </p:pic>
    </p:spTree>
    <p:extLst>
      <p:ext uri="{BB962C8B-B14F-4D97-AF65-F5344CB8AC3E}">
        <p14:creationId xmlns:p14="http://schemas.microsoft.com/office/powerpoint/2010/main" val="19530068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910B573-13B5-4861-8226-73A9EFE0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0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C048563-4BBA-4E51-898D-AB0036B3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9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Superpowers 最反直觉的设计，是先让 agent 慢下来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9C93B2D-B247-4187-AAC0-43B9F8C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F1A5454-7164-471D-9B23-4DAC26DD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DF876AE-8EF8-4300-A6B7-45E74CB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39EA2B4-D299-459F-B170-5721F306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1">
                <a:solidFill>
                  <a:srgbClr val="3D8DFF"/>
                </a:solidFill>
                <a:latin typeface="Alibaba PuHuiTi"/>
                <a:ea typeface="Alibaba PuHuiTi"/>
                <a:cs typeface="Alibaba PuHuiTi"/>
              </a:rPr>
              <a:t>先聊清楚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EAE52A7-E11C-4B3A-B9D4-E12F2B85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1">
                <a:solidFill>
                  <a:srgbClr val="3D8DFF"/>
                </a:solidFill>
                <a:latin typeface="Alibaba PuHuiTi"/>
                <a:ea typeface="Alibaba PuHuiTi"/>
                <a:cs typeface="Alibaba PuHuiTi"/>
              </a:rPr>
              <a:t>再写计划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0900382-8A4F-4683-9FC4-5F56F96E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1">
                <a:solidFill>
                  <a:srgbClr val="3D8DFF"/>
                </a:solidFill>
                <a:latin typeface="Alibaba PuHuiTi"/>
                <a:ea typeface="Alibaba PuHuiTi"/>
                <a:cs typeface="Alibaba PuHuiTi"/>
              </a:rPr>
              <a:t>最后开工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4F50F6A-C759-4DC9-A5FD-CF3530CF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把判断变成顺序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拆任务、写验证步骤，把上下文和验收条件交代清楚。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EE95ECE-AB09-4408-803B-03EAE74D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把想法变成规格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先提问，分段确认设计，不急着生成代码。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B36DAE4-34B2-4EEA-8276-D975C3C1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把过程变成技能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TDD、子 agent、两阶段 review 和收尾都有固定做法。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4eecde5dd4ffe"/>
          <a:srcRect xmlns:a="http://schemas.openxmlformats.org/drawingml/2006/main" l="0" t="15297" r="0" b="15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7100" y="1162050"/>
            <a:ext cx="4171950" cy="1447800"/>
          </a:xfrm>
          <a:prstGeom xmlns:a="http://schemas.openxmlformats.org/drawingml/2006/main" prst="roundRect">
            <a:avLst>
              <a:gd name="adj" fmla="val 7895"/>
            </a:avLst>
          </a:prstGeom>
        </p:spPr>
      </p:pic>
      <p:sp>
        <p:nvSpPr>
          <p:cNvPr id="14" name="superpowers-thesis">
            <a:extLst xmlns:a="http://schemas.openxmlformats.org/drawingml/2006/main">
              <a:ext uri="{FF2B5EF4-FFF2-40B4-BE49-F238E27FC236}">
                <a16:creationId xmlns:a16="http://schemas.microsoft.com/office/drawing/2014/main" id="{B8F11BD2-94B4-4094-B11F-D6667EF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28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1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代码便宜之后，顺序、判断和复核变成更稀缺的资产。</a:t>
            </a:r>
          </a:p>
        </p:txBody>
      </p:sp>
    </p:spTree>
    <p:extLst>
      <p:ext uri="{BB962C8B-B14F-4D97-AF65-F5344CB8AC3E}">
        <p14:creationId xmlns:p14="http://schemas.microsoft.com/office/powerpoint/2010/main" val="7537235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E8AB3EF-8087-4471-9841-A21C9A94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D6FA7CE-EE4D-4B4C-9B15-6AF36FF5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5242DF6-8FBA-4CD2-B033-BA4979D3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6B91F94-E056-4B53-A3F5-7409720B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000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79C0D4B-2967-4389-8157-D925C9C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9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三家官方仓库正在用同一种文件组织 agent 能力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D887B62-C198-4B14-BEC4-74FF1140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Anthropic
自包含的说明、脚本与资源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037AD52-3A0C-40AF-9B4B-804F0E0B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Google
产品知识可以被选择并安装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FE9CE016-964F-41B5-9995-7EDA48C6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OpenAI
agent 可发现、可复用的能力目录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7E6488F-7242-4588-B100-A4D135C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7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SKILL.md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B0079A0-14CF-4AD8-92E8-C6FDA61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700" b="1">
                <a:solidFill>
                  <a:srgbClr val="3D8DFF"/>
                </a:solidFill>
                <a:latin typeface="Alibaba PuHuiTi"/>
                <a:ea typeface="Alibaba PuHuiTi"/>
                <a:cs typeface="Alibaba PuHuiTi"/>
              </a:rPr>
              <a:t>write once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0C211CD-14B1-452A-BC9B-C2934B88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7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npx add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A031419-473B-4E68-898C-D22E284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这不是单个社区的偶然实验。Anthropic、OpenAI 和 Google 都开始公开维护 skill 仓库。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它们的产品边界不同，但共同点很清楚：知识被包装成文件夹、说明、脚本和资源，由 agent 动态发现和使用。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ffc679d9c42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32194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232a3aa9044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32194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db514efeb45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1375" y="32194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</p:spPr>
      </p:pic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8B53BC84-44E8-4F03-ACD8-95AE75BF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76550"/>
            <a:ext cx="11410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9203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D8CC4FCD-DE09-4595-AEF9-18196B49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5100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Awesome 仓库正在变成
agent behavior 的源代码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B02D775-31D3-4FD8-88CC-EAF996F5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Stars 仍然说明谁被看见。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11318"/>
                </a:solidFill>
                <a:latin typeface="Alibaba PuHuiTi"/>
                <a:ea typeface="Alibaba PuHuiTi"/>
                <a:cs typeface="Alibaba PuHuiTi"/>
              </a:rPr>
              <a:t>下一步要追踪：谁被安装，谁被 agent 调用。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0">
                <a:solidFill>
                  <a:srgbClr val="565D68"/>
                </a:solidFill>
                <a:latin typeface="Alibaba PuHuiTi"/>
                <a:ea typeface="Alibaba PuHuiTi"/>
                <a:cs typeface="Alibaba PuHuiTi"/>
              </a:rPr>
              <a:t>这会让下一版 landscape 更接近真实使用。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A245A52-AA60-43F2-B4AB-D85075EA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1">
                <a:solidFill>
                  <a:srgbClr val="3D8DFF"/>
                </a:solidFill>
                <a:latin typeface="Alibaba PuHuiTi"/>
                <a:ea typeface="Alibaba PuHuiTi"/>
                <a:cs typeface="Alibaba PuHuiTi"/>
              </a:rPr>
              <a:t>NEXT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956F4F3-925D-4EE0-BD2E-D439B2CE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11410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2624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2026-07-31T09:48:23.1910000Z</dcterms:created>
  <dcterms:modified xsi:type="dcterms:W3CDTF">2026-07-31T09:48:23.1910000Z</dcterms:modified>
</coreProperties>
</file>