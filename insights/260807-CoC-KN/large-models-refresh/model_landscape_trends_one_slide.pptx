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ab69be64394493" /><Relationship Type="http://schemas.openxmlformats.org/officeDocument/2006/relationships/extended-properties" Target="/docProps/app.xml" Id="R37c45909b2a141a5" /><Relationship Type="http://schemas.openxmlformats.org/officeDocument/2006/relationships/officeDocument" Target="/ppt/presentation.xml" Id="R3ac9d072889949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0d17f3f2cb4ab2"/>
  </p:sldMasterIdLst>
  <p:notesMasterIdLst>
    <p:notesMasterId xmlns:r="http://schemas.openxmlformats.org/officeDocument/2006/relationships" r:id="R46100385b4994fa3"/>
  </p:notesMasterIdLst>
  <p:sldIdLst>
    <p:sldId xmlns:r="http://schemas.openxmlformats.org/officeDocument/2006/relationships" id="256" r:id="R01914ec6eb7445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c04ed7e50c4609" /><Relationship Type="http://schemas.openxmlformats.org/officeDocument/2006/relationships/slideMaster" Target="/ppt/slideMasters/slideMaster1.xml" Id="Rd00d17f3f2cb4ab2" /><Relationship Type="http://schemas.openxmlformats.org/officeDocument/2006/relationships/notesMaster" Target="/ppt/notesMasters/notesMaster1.xml" Id="R46100385b4994fa3" /><Relationship Type="http://schemas.openxmlformats.org/officeDocument/2006/relationships/presProps" Target="/ppt/presProps.xml" Id="R5baf2b78139744cf" /><Relationship Type="http://schemas.openxmlformats.org/officeDocument/2006/relationships/tableStyles" Target="/ppt/tableStyles.xml" Id="Ra02da2747104427c" /><Relationship Type="http://schemas.openxmlformats.org/officeDocument/2006/relationships/slide" Target="/ppt/slides/slide1.xml" Id="R01914ec6eb7445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9710d3d5f642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libaba PuHuiTi"/>
        <a:ea typeface="Alibaba PuHuiTi"/>
        <a:cs typeface="Alibaba PuHuiTi"/>
      </a:majorFont>
      <a:minorFont>
        <a:latin typeface="Alibaba PuHuiTi"/>
        <a:ea typeface="Alibaba PuHuiTi"/>
        <a:cs typeface="Alibaba PuHuiT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563cfe5ac54f36" /><Relationship Type="http://schemas.openxmlformats.org/officeDocument/2006/relationships/notesMaster" Target="/ppt/notesMasters/notesMaster1.xml" Id="R703588f31ff54e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Monthly usage and open-weight classification: /Users/xiaoyawork/Desktop/src_code/agentic-ai-landscape/presentations/260807-CoC-KN/large-models-refresh/data/monthly_models_top50_open_closed.csv. June 1-30, 2026. Composite score = 50% OpenRouter monthly token percentile + 50% ZenMux monthly token percentile; raw token counts are not added across platforms.</a:t>
            </a:r>
          </a:p>
          <a:p xmlns:a="http://schemas.openxmlformats.org/drawingml/2006/main">
            <a:r>
              <a:t>- Artificial Analysis Intelligence Index: https://artificialanalysis.ai/models. Local public-page snapshot: /Users/xiaoyawork/Desktop/src_code/agentic-ai-landscape/presentations/260807-CoC-KN/large-models-refresh/data/artificial_analysis_public_snapshot.json, retrieved 2026-07-29. Only matched models visible in the public leaderboard snapshot are compared.</a:t>
            </a:r>
          </a:p>
          <a:p xmlns:a="http://schemas.openxmlformats.org/drawingml/2006/main">
            <a:r>
              <a:t>- 'API-only' means closed weights or no public weights in the source classification; it is an access label, not a legal conclusion.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010290f4a4f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70d4dabf2d42f4" /><Relationship Type="http://schemas.openxmlformats.org/officeDocument/2006/relationships/slideLayout" Target="/ppt/slideLayouts/slideLayout1.xml" Id="R4e697fb3c15e40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697fb3c15e40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"/>
          <a:ea typeface="Alibaba PuHuiTi"/>
          <a:cs typeface="Alibaba PuHuiT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libaba PuHuiTi"/>
        <a:ea typeface="Alibaba PuHuiTi"/>
        <a:cs typeface="Alibaba PuHuiTi"/>
      </a:majorFont>
      <a:minorFont>
        <a:latin typeface="Alibaba PuHuiTi"/>
        <a:ea typeface="Alibaba PuHuiTi"/>
        <a:cs typeface="Alibaba PuHuiT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bca392b3a4b2a" /><Relationship Type="http://schemas.openxmlformats.org/officeDocument/2006/relationships/notesSlide" Target="/ppt/notesSlides/notesSlide1.xml" Id="Rd663fe1c081341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939C4F-D29E-46AE-A3FA-82DC7006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3C9"/>
                </a:solidFill>
              </a:defRPr>
            </a:pPr>
            <a:r>
              <a:rPr sz="975" b="1">
                <a:solidFill>
                  <a:srgbClr val="1473C9"/>
                </a:solidFill>
              </a:rPr>
              <a:t>MODEL LANDSCAPE / JUNE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E4A68-5039-4E0B-8233-740E47EB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171A"/>
                </a:solidFill>
              </a:defRPr>
            </a:pPr>
            <a:r>
              <a:rPr sz="3150" b="1">
                <a:solidFill>
                  <a:srgbClr val="15171A"/>
                </a:solidFill>
              </a:rPr>
              <a:t>Open-weight models now win usage peaks.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DB894-99BA-418A-9A34-371066D3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0656B"/>
                </a:solidFill>
              </a:defRPr>
            </a:pPr>
            <a:r>
              <a:rPr sz="1800" b="0">
                <a:solidFill>
                  <a:srgbClr val="60656B"/>
                </a:solidFill>
              </a:rPr>
              <a:t>Closed models still lead more of the field.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246B1-CA77-48B8-9360-4EFE5B54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2D837-33E1-4AC7-85DF-BDB7F459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09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473C9"/>
                </a:solidFill>
              </a:defRPr>
            </a:pPr>
            <a:r>
              <a:rPr sz="3900" b="1">
                <a:solidFill>
                  <a:srgbClr val="1473C9"/>
                </a:solidFill>
              </a:rPr>
              <a:t>#1 + #2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C5605-879A-4792-84B1-FD202B00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171A"/>
                </a:solidFill>
              </a:defRPr>
            </a:pPr>
            <a:r>
              <a:rPr sz="1650" b="1">
                <a:solidFill>
                  <a:srgbClr val="15171A"/>
                </a:solidFill>
              </a:rPr>
              <a:t>DeepSeek V4 Flash / Pro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7068B-87EC-4A5F-AC6B-D7490D4D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656B"/>
                </a:solidFill>
              </a:defRPr>
            </a:pPr>
            <a:r>
              <a:rPr sz="1350" b="0">
                <a:solidFill>
                  <a:srgbClr val="60656B"/>
                </a:solidFill>
              </a:rPr>
              <a:t>Open-weight models lead monthly usage.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EE2A1-012D-4454-8ECA-936B5E9D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81200"/>
            <a:ext cx="19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8"/>
          </a:solidFill>
          <a:ln xmlns:a="http://schemas.openxmlformats.org/drawingml/2006/main" w="0">
            <a:solidFill>
              <a:srgbClr val="E3E6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BCC81-F441-4D4C-93A2-5D4A5917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52625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5171A"/>
                </a:solidFill>
              </a:defRPr>
            </a:pPr>
            <a:r>
              <a:rPr sz="3900" b="1">
                <a:solidFill>
                  <a:srgbClr val="15171A"/>
                </a:solidFill>
              </a:rPr>
              <a:t>5 :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27D39-769A-456A-B7C0-3945C73D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574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171A"/>
                </a:solidFill>
              </a:defRPr>
            </a:pPr>
            <a:r>
              <a:rPr sz="1650" b="1">
                <a:solidFill>
                  <a:srgbClr val="15171A"/>
                </a:solidFill>
              </a:rPr>
              <a:t>Open vs API-only in Top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6EAED-B2DB-4572-B687-743ECB2E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656B"/>
                </a:solidFill>
              </a:defRPr>
            </a:pPr>
            <a:r>
              <a:rPr sz="1350" b="0">
                <a:solidFill>
                  <a:srgbClr val="60656B"/>
                </a:solidFill>
              </a:rPr>
              <a:t>The top of the market is no longer one-sided.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ABC8A-E84E-40DC-9C3B-677F343D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"/>
            <a:ext cx="19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8"/>
          </a:solidFill>
          <a:ln xmlns:a="http://schemas.openxmlformats.org/drawingml/2006/main" w="0">
            <a:solidFill>
              <a:srgbClr val="E3E6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CCFC9-D3B7-4B12-8465-7268F742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5171A"/>
                </a:solidFill>
              </a:defRPr>
            </a:pPr>
            <a:r>
              <a:rPr sz="3900" b="1">
                <a:solidFill>
                  <a:srgbClr val="15171A"/>
                </a:solidFill>
              </a:rPr>
              <a:t>24 : 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2E120-EFA3-48D5-BB20-B7D005A5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574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171A"/>
                </a:solidFill>
              </a:defRPr>
            </a:pPr>
            <a:r>
              <a:rPr sz="1650" b="1">
                <a:solidFill>
                  <a:srgbClr val="15171A"/>
                </a:solidFill>
              </a:rPr>
              <a:t>Open vs API-only in Top 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CC030-4E70-40BA-B193-D1CA98EB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656B"/>
                </a:solidFill>
              </a:defRPr>
            </a:pPr>
            <a:r>
              <a:rPr sz="1350" b="0">
                <a:solidFill>
                  <a:srgbClr val="60656B"/>
                </a:solidFill>
              </a:rPr>
              <a:t>API-only models retain a slight breadth edge.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C7A53-3D4A-4F20-83D6-6C2CBEE0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8"/>
          </a:solidFill>
          <a:ln xmlns:a="http://schemas.openxmlformats.org/drawingml/2006/main" w="0">
            <a:solidFill>
              <a:srgbClr val="E3E6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B649D-5665-404F-8741-E8F56752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171A"/>
                </a:solidFill>
              </a:defRPr>
            </a:pPr>
            <a:r>
              <a:rPr sz="2100" b="1">
                <a:solidFill>
                  <a:srgbClr val="15171A"/>
                </a:solidFill>
              </a:rPr>
              <a:t>Usage is not capability.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862AC-947C-4B51-961E-317B908E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656B"/>
                </a:solidFill>
              </a:defRPr>
            </a:pPr>
            <a:r>
              <a:rPr sz="1350" b="0">
                <a:solidFill>
                  <a:srgbClr val="60656B"/>
                </a:solidFill>
              </a:rPr>
              <a:t>The most-used model is not the highest-scoring one.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F8141-66AB-46A5-A609-73CF9547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24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0656B"/>
                </a:solidFill>
              </a:defRPr>
            </a:pPr>
            <a:r>
              <a:rPr sz="900" b="1">
                <a:solidFill>
                  <a:srgbClr val="60656B"/>
                </a:solidFill>
              </a:rPr>
              <a:t>MONTHLY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3AE75-C8C5-4388-897F-FB18FDE9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24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0656B"/>
                </a:solidFill>
              </a:defRPr>
            </a:pPr>
            <a:r>
              <a:rPr sz="900" b="1">
                <a:solidFill>
                  <a:srgbClr val="60656B"/>
                </a:solidFill>
              </a:rPr>
              <a:t>AAI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A3992-06F7-4C89-A371-E294D136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76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171A"/>
                </a:solidFill>
              </a:defRPr>
            </a:pPr>
            <a:r>
              <a:rPr sz="1500" b="1">
                <a:solidFill>
                  <a:srgbClr val="15171A"/>
                </a:solidFill>
              </a:rPr>
              <a:t>DeepSeek V4 Flash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90630-08CF-45CF-9475-B2E09B6F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473C9"/>
                </a:solidFill>
              </a:defRPr>
            </a:pPr>
            <a:r>
              <a:rPr sz="1875" b="1">
                <a:solidFill>
                  <a:srgbClr val="1473C9"/>
                </a:solidFill>
              </a:rPr>
              <a:t>#1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2B9B2-E666-4974-8406-E2D70FE0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767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450A8"/>
                </a:solidFill>
              </a:defRPr>
            </a:pPr>
            <a:r>
              <a:rPr sz="1875" b="1">
                <a:solidFill>
                  <a:srgbClr val="7450A8"/>
                </a:solidFill>
              </a:rPr>
              <a:t>40.3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81932-97E3-44B9-84E7-E75C1460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33950"/>
            <a:ext cx="621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8"/>
          </a:solidFill>
          <a:ln xmlns:a="http://schemas.openxmlformats.org/drawingml/2006/main" w="0">
            <a:solidFill>
              <a:srgbClr val="E3E6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CF6CF-6559-484A-8E37-9E0DED6F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24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171A"/>
                </a:solidFill>
              </a:defRPr>
            </a:pPr>
            <a:r>
              <a:rPr sz="1500" b="1">
                <a:solidFill>
                  <a:srgbClr val="15171A"/>
                </a:solidFill>
              </a:rPr>
              <a:t>Claude Fable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090E7-86E2-428F-9A02-3109A9A1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5171A"/>
                </a:solidFill>
              </a:defRPr>
            </a:pPr>
            <a:r>
              <a:rPr sz="1875" b="1">
                <a:solidFill>
                  <a:srgbClr val="15171A"/>
                </a:solidFill>
              </a:rPr>
              <a:t>#25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5BBCF4-4626-480F-B0FE-C9F07A82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244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450A8"/>
                </a:solidFill>
              </a:defRPr>
            </a:pPr>
            <a:r>
              <a:rPr sz="1875" b="1">
                <a:solidFill>
                  <a:srgbClr val="7450A8"/>
                </a:solidFill>
              </a:rPr>
              <a:t>59.9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CF8156-F489-41FC-B675-40655170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C9"/>
          </a:solidFill>
          <a:ln xmlns:a="http://schemas.openxmlformats.org/drawingml/2006/main" w="0">
            <a:solidFill>
              <a:srgbClr val="1473C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0EB076-DD41-4577-9A79-DC7EF2CF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483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171A"/>
                </a:solidFill>
              </a:defRPr>
            </a:pPr>
            <a:r>
              <a:rPr sz="1500" b="1">
                <a:solidFill>
                  <a:srgbClr val="15171A"/>
                </a:solidFill>
              </a:rPr>
              <a:t>Open-weight models are competitive at the top; selection still depends on capability, cost and control.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DEC862-9785-41D6-9C59-F9F2DCF0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60656B"/>
                </a:solidFill>
              </a:defRPr>
            </a:pPr>
            <a:r>
              <a:rPr sz="750" b="0">
                <a:solidFill>
                  <a:srgbClr val="60656B"/>
                </a:solidFill>
              </a:rPr>
              <a:t>Usage: OpenRouter + ZenMux, June 2026  |  AAI: public Artificial Analysis leaderboard matches</a:t>
            </a:r>
          </a:p>
        </p:txBody>
      </p:sp>
    </p:spTree>
    <p:extLst>
      <p:ext uri="{BB962C8B-B14F-4D97-AF65-F5344CB8AC3E}">
        <p14:creationId xmlns:p14="http://schemas.microsoft.com/office/powerpoint/2010/main" val="961468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libaba PuHuiTi"/>
        <a:ea typeface="Alibaba PuHuiTi"/>
        <a:cs typeface="Alibaba PuHuiTi"/>
      </a:majorFont>
      <a:minorFont>
        <a:latin typeface="Alibaba PuHuiTi"/>
        <a:ea typeface="Alibaba PuHuiTi"/>
        <a:cs typeface="Alibaba PuHuiT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2026-07-31T09:48:22.2740000Z</dcterms:created>
  <dcterms:modified xsi:type="dcterms:W3CDTF">2026-07-31T09:48:22.2740000Z</dcterms:modified>
</coreProperties>
</file>